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9" r:id="rId5"/>
    <p:sldId id="274" r:id="rId6"/>
    <p:sldId id="285" r:id="rId7"/>
    <p:sldId id="276" r:id="rId8"/>
    <p:sldId id="282" r:id="rId9"/>
    <p:sldId id="283" r:id="rId10"/>
    <p:sldId id="284" r:id="rId11"/>
    <p:sldId id="275" r:id="rId12"/>
    <p:sldId id="273" r:id="rId13"/>
    <p:sldId id="277" r:id="rId14"/>
    <p:sldId id="278" r:id="rId15"/>
    <p:sldId id="286" r:id="rId16"/>
    <p:sldId id="288" r:id="rId17"/>
    <p:sldId id="279" r:id="rId18"/>
    <p:sldId id="280" r:id="rId19"/>
    <p:sldId id="281" r:id="rId20"/>
    <p:sldId id="268" r:id="rId21"/>
    <p:sldId id="290" r:id="rId22"/>
    <p:sldId id="270" r:id="rId23"/>
    <p:sldId id="265" r:id="rId24"/>
    <p:sldId id="26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openxmlformats.org/officeDocument/2006/relationships/hyperlink" Target="https://www.npci.org.in" TargetMode="External"/><Relationship Id="rId5" Type="http://schemas.openxmlformats.org/officeDocument/2006/relationships/hyperlink" Target="https://mib.gov.in/ministry/organizations/publication-division" TargetMode="External"/><Relationship Id="rId4" Type="http://schemas.openxmlformats.org/officeDocument/2006/relationships/hyperlink" Target="https://mailchimp.com" TargetMode="External"/><Relationship Id="rId3" Type="http://schemas.openxmlformats.org/officeDocument/2006/relationships/hyperlink" Target="https://www.techtarget.com/searchbusinessanalytics/definition/Google-Analytics" TargetMode="External"/><Relationship Id="rId2" Type="http://schemas.openxmlformats.org/officeDocument/2006/relationships/hyperlink" Target="https://www.semrush.com" TargetMode="External"/><Relationship Id="rId1" Type="http://schemas.openxmlformats.org/officeDocument/2006/relationships/hyperlink" Target="https://searchengineland.com/evolving-seo-for-2025-what-needs-to-change-450911"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575" y="1026795"/>
            <a:ext cx="10363200" cy="150876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altLang="en-US" sz="2250" dirty="0">
                <a:solidFill>
                  <a:schemeClr val="tx1"/>
                </a:solidFill>
                <a:latin typeface="Cambria" panose="02040503050406030204" pitchFamily="18" charset="0"/>
                <a:ea typeface="Cambria" panose="02040503050406030204" pitchFamily="18" charset="0"/>
              </a:rPr>
              <a:t>A complete digital marketing solution for a visible increase in o</a:t>
            </a:r>
            <a:r>
              <a:rPr lang="en-US" altLang="en-US" sz="2250" dirty="0">
                <a:solidFill>
                  <a:schemeClr val="tx1"/>
                </a:solidFill>
                <a:latin typeface="Cambria" panose="02040503050406030204" pitchFamily="18" charset="0"/>
                <a:ea typeface="Cambria" panose="02040503050406030204" pitchFamily="18" charset="0"/>
              </a:rPr>
              <a:t>nline sale of DPD journals and Employment News issues through various available/new online sale</a:t>
            </a:r>
            <a:r>
              <a:rPr lang="en-IN" altLang="en-US" sz="2250" dirty="0">
                <a:solidFill>
                  <a:schemeClr val="tx1"/>
                </a:solidFill>
                <a:latin typeface="Cambria" panose="02040503050406030204" pitchFamily="18" charset="0"/>
                <a:ea typeface="Cambria" panose="02040503050406030204" pitchFamily="18" charset="0"/>
              </a:rPr>
              <a:t> </a:t>
            </a:r>
            <a:r>
              <a:rPr lang="en-US" altLang="en-US" sz="2250" dirty="0">
                <a:solidFill>
                  <a:schemeClr val="tx1"/>
                </a:solidFill>
                <a:latin typeface="Cambria" panose="02040503050406030204" pitchFamily="18" charset="0"/>
                <a:ea typeface="Cambria" panose="02040503050406030204" pitchFamily="18" charset="0"/>
              </a:rPr>
              <a:t>channels (like website, apps , amazon, social media) by optimising various available or new digital marketing tools like email marketing, SEO</a:t>
            </a:r>
            <a:r>
              <a:rPr lang="en-IN" altLang="en-US" sz="2250" dirty="0">
                <a:solidFill>
                  <a:schemeClr val="tx1"/>
                </a:solidFill>
                <a:latin typeface="Cambria" panose="02040503050406030204" pitchFamily="18" charset="0"/>
                <a:ea typeface="Cambria" panose="02040503050406030204" pitchFamily="18" charset="0"/>
              </a:rPr>
              <a:t>.</a:t>
            </a:r>
            <a:endParaRPr lang="en-IN" altLang="en-US" sz="225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575" y="2612390"/>
            <a:ext cx="4391025" cy="4178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a:t>
            </a:r>
            <a:r>
              <a:rPr lang="en-GB" sz="1800" dirty="0" smtClean="0">
                <a:latin typeface="Cambria" panose="02040503050406030204" pitchFamily="18" charset="0"/>
                <a:ea typeface="Cambria" panose="02040503050406030204" pitchFamily="18" charset="0"/>
              </a:rPr>
              <a:t>:</a:t>
            </a:r>
            <a:r>
              <a:rPr lang="en-IN" altLang="en-GB" sz="1800" dirty="0" smtClean="0">
                <a:latin typeface="Cambria" panose="02040503050406030204" pitchFamily="18" charset="0"/>
                <a:ea typeface="Cambria" panose="02040503050406030204" pitchFamily="18" charset="0"/>
              </a:rPr>
              <a:t> CSE-242</a:t>
            </a:r>
            <a:endParaRPr lang="en-IN" altLang="en-GB" sz="1800" dirty="0" smtClean="0">
              <a:latin typeface="Cambria" panose="02040503050406030204" pitchFamily="18" charset="0"/>
              <a:ea typeface="Cambria" panose="02040503050406030204" pitchFamily="18" charset="0"/>
            </a:endParaRPr>
          </a:p>
        </p:txBody>
      </p:sp>
      <p:sp>
        <p:nvSpPr>
          <p:cNvPr id="90" name="Google Shape;90;p13"/>
          <p:cNvSpPr txBox="1"/>
          <p:nvPr/>
        </p:nvSpPr>
        <p:spPr>
          <a:xfrm>
            <a:off x="6480175" y="2721610"/>
            <a:ext cx="5514340" cy="183261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457200" marR="0" lvl="1" indent="457200" algn="ctr" rtl="0">
              <a:spcBef>
                <a:spcPts val="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ChandraSekhar M</a:t>
            </a:r>
            <a:endPar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Professor</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and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custDataLst>
              <p:tags r:id="rId1"/>
            </p:custDataLst>
          </p:nvPr>
        </p:nvGraphicFramePr>
        <p:xfrm>
          <a:off x="677545" y="3030220"/>
          <a:ext cx="5418455" cy="2194560"/>
        </p:xfrm>
        <a:graphic>
          <a:graphicData uri="http://schemas.openxmlformats.org/drawingml/2006/table">
            <a:tbl>
              <a:tblPr firstRow="1" bandRow="1">
                <a:noFill/>
                <a:tableStyleId>{57690726-49DA-4552-BDEB-330DD8EA8BD9}</a:tableStyleId>
              </a:tblPr>
              <a:tblGrid>
                <a:gridCol w="2084705"/>
                <a:gridCol w="3333750"/>
              </a:tblGrid>
              <a:tr h="36576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Font typeface="+mj-lt"/>
                        <a:buNone/>
                      </a:pPr>
                      <a:r>
                        <a:rPr lang="en-IN" sz="1800" u="none" strike="noStrike" cap="none" dirty="0"/>
                        <a:t>20221CSE0268</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PIRUTHVIRAJ S</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r>
                        <a:rPr lang="en-IN" sz="1800" u="none" strike="noStrike" cap="none" dirty="0"/>
                        <a:t>20221CSE0270</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RAFAEL V</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r>
                        <a:rPr lang="en-IN" sz="1800" u="none" strike="noStrike" cap="none" dirty="0"/>
                        <a:t>20221CSE0260</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REVANTH ADITHYA V</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alt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3</a:t>
            </a:r>
            <a:endParaRPr lang="en-IN" alt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84314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endParaRPr lang="en-IN"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Asif Mohammed</a:t>
            </a:r>
            <a:endPar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Jayavadivel Ravi</a:t>
            </a:r>
            <a:endPar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0"/>
            <a:ext cx="10668000" cy="4615815"/>
          </a:xfrm>
          <a:prstGeom prst="rect">
            <a:avLst/>
          </a:prstGeom>
          <a:noFill/>
          <a:ln>
            <a:noFill/>
          </a:ln>
        </p:spPr>
        <p:txBody>
          <a:bodyPr spcFirstLastPara="1" wrap="square" lIns="91425" tIns="45700" rIns="91425" bIns="45700" anchor="t" anchorCtr="0">
            <a:normAutofit fontScale="90000"/>
          </a:bodyPr>
          <a:lstStyle/>
          <a:p>
            <a:pPr marL="342900" lvl="0" indent="-190500" algn="just">
              <a:spcBef>
                <a:spcPts val="0"/>
              </a:spcBef>
              <a:buNone/>
            </a:pPr>
            <a:r>
              <a:rPr lang="en-US" b="1" dirty="0" smtClean="0">
                <a:latin typeface="Cambria" panose="02040503050406030204" pitchFamily="18" charset="0"/>
                <a:ea typeface="Cambria" panose="02040503050406030204" pitchFamily="18" charset="0"/>
              </a:rPr>
              <a:t>Organization</a:t>
            </a:r>
            <a:r>
              <a:rPr lang="en-IN" altLang="en-US"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Ministry of</a:t>
            </a:r>
            <a:r>
              <a:rPr lang="en-IN" alt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Information and Broadcasting</a:t>
            </a:r>
            <a:endParaRPr lang="en-US" alt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b="1" dirty="0" smtClean="0">
                <a:latin typeface="Cambria" panose="02040503050406030204" pitchFamily="18" charset="0"/>
                <a:ea typeface="Cambria" panose="02040503050406030204" pitchFamily="18" charset="0"/>
              </a:rPr>
              <a:t>(Hardware / Software / Both</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t>
            </a:r>
            <a:r>
              <a:rPr lang="en-IN" altLang="en-US" dirty="0" smtClean="0">
                <a:latin typeface="Cambria" panose="02040503050406030204" pitchFamily="18" charset="0"/>
                <a:ea typeface="Cambria" panose="02040503050406030204" pitchFamily="18" charset="0"/>
              </a:rPr>
              <a:t> Software</a:t>
            </a:r>
            <a:endParaRPr 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solidFill>
                  <a:schemeClr val="tx1">
                    <a:lumMod val="95000"/>
                    <a:lumOff val="5000"/>
                  </a:schemeClr>
                </a:solidFill>
                <a:latin typeface="Cambria" panose="02040503050406030204" pitchFamily="18" charset="0"/>
                <a:ea typeface="Cambria" panose="02040503050406030204" pitchFamily="18" charset="0"/>
              </a:rPr>
              <a:t>Problem </a:t>
            </a:r>
            <a:r>
              <a:rPr lang="en-US" b="1" dirty="0" smtClean="0">
                <a:solidFill>
                  <a:schemeClr val="tx1">
                    <a:lumMod val="95000"/>
                    <a:lumOff val="5000"/>
                  </a:schemeClr>
                </a:solidFill>
                <a:latin typeface="Cambria" panose="02040503050406030204" pitchFamily="18" charset="0"/>
                <a:ea typeface="Cambria" panose="02040503050406030204" pitchFamily="18" charset="0"/>
              </a:rPr>
              <a:t>Description</a:t>
            </a:r>
            <a:r>
              <a:rPr lang="en-IN" altLang="en-US"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t>
            </a:r>
            <a:r>
              <a:rPr lang="en-IN" alt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A powerful, all-in-one digital marketing solution to drive visible growth in online sales through our website, mobile app, Amazon, and social media. Using smart SEO, engaging email campaigns, and targeted online ads, we ensure</a:t>
            </a:r>
            <a:r>
              <a:rPr lang="en-IN" altLang="en-US" dirty="0" smtClean="0">
                <a:latin typeface="Cambria" panose="02040503050406030204" pitchFamily="18" charset="0"/>
                <a:ea typeface="Cambria" panose="02040503050406030204" pitchFamily="18" charset="0"/>
              </a:rPr>
              <a:t> will be able to</a:t>
            </a:r>
            <a:r>
              <a:rPr lang="en-US" altLang="en-US" dirty="0" smtClean="0">
                <a:latin typeface="Cambria" panose="02040503050406030204" pitchFamily="18" charset="0"/>
                <a:ea typeface="Cambria" panose="02040503050406030204" pitchFamily="18" charset="0"/>
              </a:rPr>
              <a:t> your publications reach the right audience at the right time—turning visibility into sales.</a:t>
            </a:r>
            <a:endParaRPr lang="en-US" altLang="en-US" b="1"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smtClean="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Content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935990"/>
            <a:ext cx="10668000" cy="5345430"/>
          </a:xfrm>
          <a:prstGeom prst="rect">
            <a:avLst/>
          </a:prstGeom>
          <a:noFill/>
          <a:ln>
            <a:noFill/>
          </a:ln>
        </p:spPr>
        <p:txBody>
          <a:bodyPr spcFirstLastPara="1" wrap="square" lIns="91425" tIns="45700" rIns="91425" bIns="45700" anchor="t" anchorCtr="0">
            <a:normAutofit fontScale="90000"/>
          </a:bodyPr>
          <a:lstStyle/>
          <a:p>
            <a:pPr marL="495300" indent="-342900" algn="just">
              <a:lnSpc>
                <a:spcPct val="200000"/>
              </a:lnSpc>
              <a:spcBef>
                <a:spcPts val="0"/>
              </a:spcBef>
              <a:buFont typeface="Arial" panose="020B0604020202020204" pitchFamily="34" charset="0"/>
              <a:buChar char="•"/>
            </a:pPr>
            <a:r>
              <a:rPr lang="en-IN" dirty="0" smtClean="0">
                <a:latin typeface="Cambria" panose="02040503050406030204" pitchFamily="18" charset="0"/>
                <a:ea typeface="Cambria" panose="02040503050406030204" pitchFamily="18" charset="0"/>
              </a:rPr>
              <a:t>Chapter 1 : </a:t>
            </a:r>
            <a:r>
              <a:rPr lang="en-US" altLang="en-US" dirty="0" smtClean="0">
                <a:latin typeface="Cambria" panose="02040503050406030204" pitchFamily="18" charset="0"/>
                <a:ea typeface="Cambria" panose="02040503050406030204" pitchFamily="18" charset="0"/>
              </a:rPr>
              <a:t>Introduction to DPD Journals – Brand </a:t>
            </a:r>
            <a:r>
              <a:rPr lang="en-IN" alt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Overview, Mission, and Products</a:t>
            </a:r>
            <a:endParaRPr lang="en-US"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dirty="0" smtClean="0">
                <a:latin typeface="Cambria" panose="02040503050406030204" pitchFamily="18" charset="0"/>
                <a:ea typeface="Cambria" panose="02040503050406030204" pitchFamily="18" charset="0"/>
                <a:sym typeface="+mn-ea"/>
              </a:rPr>
              <a:t>Chapter 2 : </a:t>
            </a:r>
            <a:r>
              <a:rPr lang="en-US" altLang="en-US" dirty="0" smtClean="0">
                <a:latin typeface="Cambria" panose="02040503050406030204" pitchFamily="18" charset="0"/>
                <a:ea typeface="Cambria" panose="02040503050406030204" pitchFamily="18" charset="0"/>
              </a:rPr>
              <a:t>Market Analysis – Stationery Market Trends and Online Competition</a:t>
            </a:r>
            <a:endParaRPr lang="en-US"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dirty="0" smtClean="0">
                <a:latin typeface="Cambria" panose="02040503050406030204" pitchFamily="18" charset="0"/>
                <a:ea typeface="Cambria" panose="02040503050406030204" pitchFamily="18" charset="0"/>
                <a:sym typeface="+mn-ea"/>
              </a:rPr>
              <a:t>Chapter 3 : </a:t>
            </a:r>
            <a:r>
              <a:rPr lang="en-US" altLang="en-US" dirty="0" smtClean="0">
                <a:latin typeface="Cambria" panose="02040503050406030204" pitchFamily="18" charset="0"/>
                <a:ea typeface="Cambria" panose="02040503050406030204" pitchFamily="18" charset="0"/>
              </a:rPr>
              <a:t>Target Audience – Students, Professionals, Artists, and Planners</a:t>
            </a:r>
            <a:endParaRPr lang="en-US"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dirty="0" smtClean="0">
                <a:latin typeface="Cambria" panose="02040503050406030204" pitchFamily="18" charset="0"/>
                <a:ea typeface="Cambria" panose="02040503050406030204" pitchFamily="18" charset="0"/>
                <a:sym typeface="+mn-ea"/>
              </a:rPr>
              <a:t>Chapter 4 : </a:t>
            </a:r>
            <a:r>
              <a:rPr lang="en-US" altLang="en-US" dirty="0" smtClean="0">
                <a:latin typeface="Cambria" panose="02040503050406030204" pitchFamily="18" charset="0"/>
                <a:ea typeface="Cambria" panose="02040503050406030204" pitchFamily="18" charset="0"/>
              </a:rPr>
              <a:t>SEO Strategy – Keyword Research, On</a:t>
            </a:r>
            <a:r>
              <a:rPr lang="en-IN" altLang="en-US" dirty="0" smtClean="0">
                <a:latin typeface="Cambria" panose="02040503050406030204" pitchFamily="18" charset="0"/>
                <a:ea typeface="Cambria" panose="02040503050406030204" pitchFamily="18" charset="0"/>
              </a:rPr>
              <a:t>-</a:t>
            </a:r>
            <a:r>
              <a:rPr lang="en-US" altLang="en-US" dirty="0" smtClean="0">
                <a:latin typeface="Cambria" panose="02040503050406030204" pitchFamily="18" charset="0"/>
                <a:ea typeface="Cambria" panose="02040503050406030204" pitchFamily="18" charset="0"/>
              </a:rPr>
              <a:t>Page/Off-Page Optimization</a:t>
            </a:r>
            <a:endParaRPr lang="en-US"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dirty="0" smtClean="0">
                <a:latin typeface="Cambria" panose="02040503050406030204" pitchFamily="18" charset="0"/>
                <a:ea typeface="Cambria" panose="02040503050406030204" pitchFamily="18" charset="0"/>
                <a:sym typeface="+mn-ea"/>
              </a:rPr>
              <a:t>Chapter 5 :</a:t>
            </a:r>
            <a:r>
              <a:rPr lang="en-US" altLang="en-US" dirty="0" smtClean="0">
                <a:latin typeface="Cambria" panose="02040503050406030204" pitchFamily="18" charset="0"/>
                <a:ea typeface="Cambria" panose="02040503050406030204" pitchFamily="18" charset="0"/>
              </a:rPr>
              <a:t>Social Media Marketing – Instagram Campaigns, Influencer Reach</a:t>
            </a:r>
            <a:endParaRPr lang="en-US"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dirty="0" smtClean="0">
                <a:latin typeface="Cambria" panose="02040503050406030204" pitchFamily="18" charset="0"/>
                <a:ea typeface="Cambria" panose="02040503050406030204" pitchFamily="18" charset="0"/>
                <a:sym typeface="+mn-ea"/>
              </a:rPr>
              <a:t>Chapter 6 : E</a:t>
            </a:r>
            <a:r>
              <a:rPr lang="en-US" altLang="en-US" dirty="0" smtClean="0">
                <a:latin typeface="Cambria" panose="02040503050406030204" pitchFamily="18" charset="0"/>
                <a:ea typeface="Cambria" panose="02040503050406030204" pitchFamily="18" charset="0"/>
              </a:rPr>
              <a:t>mail Marketing – Newsletters, Promotions, Customer Retention</a:t>
            </a:r>
            <a:endParaRPr lang="en-US"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dirty="0" smtClean="0">
                <a:latin typeface="Cambria" panose="02040503050406030204" pitchFamily="18" charset="0"/>
                <a:ea typeface="Cambria" panose="02040503050406030204" pitchFamily="18" charset="0"/>
                <a:sym typeface="+mn-ea"/>
              </a:rPr>
              <a:t>Chapter 7 :  </a:t>
            </a:r>
            <a:r>
              <a:rPr lang="en-US" altLang="en-US" dirty="0" smtClean="0">
                <a:latin typeface="Cambria" panose="02040503050406030204" pitchFamily="18" charset="0"/>
                <a:ea typeface="Cambria" panose="02040503050406030204" pitchFamily="18" charset="0"/>
              </a:rPr>
              <a:t>E-commerce &amp; Amazon Strategy – Optimizing Listings and Ads</a:t>
            </a:r>
            <a:endParaRPr lang="en-US"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Font typeface="Wingdings" panose="05000000000000000000" pitchFamily="2" charset="2"/>
              <a:buNone/>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dirty="0" smtClean="0">
                <a:latin typeface="Cambria" panose="02040503050406030204" pitchFamily="18" charset="0"/>
                <a:ea typeface="Cambria" panose="02040503050406030204" pitchFamily="18" charset="0"/>
                <a:sym typeface="+mn-ea"/>
              </a:rPr>
              <a:t>Content </a:t>
            </a:r>
            <a:endParaRPr lang="en-US"/>
          </a:p>
        </p:txBody>
      </p:sp>
      <p:sp>
        <p:nvSpPr>
          <p:cNvPr id="3" name="Text Placeholder 2"/>
          <p:cNvSpPr>
            <a:spLocks noGrp="1"/>
          </p:cNvSpPr>
          <p:nvPr>
            <p:ph type="body" idx="1"/>
          </p:nvPr>
        </p:nvSpPr>
        <p:spPr/>
        <p:txBody>
          <a:bodyPr/>
          <a:p>
            <a:r>
              <a:rPr lang="en-IN" dirty="0" smtClean="0">
                <a:latin typeface="Cambria" panose="02040503050406030204" pitchFamily="18" charset="0"/>
                <a:ea typeface="Cambria" panose="02040503050406030204" pitchFamily="18" charset="0"/>
                <a:sym typeface="+mn-ea"/>
              </a:rPr>
              <a:t>Chapter 8 : </a:t>
            </a:r>
            <a:r>
              <a:rPr lang="en-US" altLang="en-US" dirty="0" smtClean="0">
                <a:latin typeface="Cambria" panose="02040503050406030204" pitchFamily="18" charset="0"/>
                <a:ea typeface="Cambria" panose="02040503050406030204" pitchFamily="18" charset="0"/>
                <a:sym typeface="+mn-ea"/>
              </a:rPr>
              <a:t>Content Marketing – Blogs, YouTube, Tutorials, </a:t>
            </a:r>
            <a:endParaRPr lang="en-US" altLang="en-US" dirty="0" smtClean="0">
              <a:latin typeface="Cambria" panose="02040503050406030204" pitchFamily="18" charset="0"/>
              <a:ea typeface="Cambria" panose="02040503050406030204" pitchFamily="18" charset="0"/>
              <a:sym typeface="+mn-ea"/>
            </a:endParaRPr>
          </a:p>
          <a:p>
            <a:r>
              <a:rPr lang="en-US" altLang="en-US" dirty="0" smtClean="0">
                <a:latin typeface="Cambria" panose="02040503050406030204" pitchFamily="18" charset="0"/>
                <a:ea typeface="Cambria" panose="02040503050406030204" pitchFamily="18" charset="0"/>
                <a:sym typeface="+mn-ea"/>
              </a:rPr>
              <a:t>Customer Stories</a:t>
            </a:r>
            <a:br>
              <a:rPr lang="en-IN" dirty="0" smtClean="0">
                <a:latin typeface="Cambria" panose="02040503050406030204" pitchFamily="18" charset="0"/>
                <a:ea typeface="Cambria" panose="02040503050406030204" pitchFamily="18" charset="0"/>
                <a:sym typeface="+mn-ea"/>
              </a:rPr>
            </a:br>
            <a:r>
              <a:rPr lang="en-IN" dirty="0" smtClean="0">
                <a:latin typeface="Cambria" panose="02040503050406030204" pitchFamily="18" charset="0"/>
                <a:ea typeface="Cambria" panose="02040503050406030204" pitchFamily="18" charset="0"/>
                <a:sym typeface="+mn-ea"/>
              </a:rPr>
              <a:t> </a:t>
            </a:r>
            <a:endParaRPr lang="en-IN" dirty="0" smtClean="0">
              <a:latin typeface="Cambria" panose="02040503050406030204" pitchFamily="18" charset="0"/>
              <a:ea typeface="Cambria" panose="02040503050406030204" pitchFamily="18" charset="0"/>
              <a:sym typeface="+mn-ea"/>
            </a:endParaRPr>
          </a:p>
          <a:p>
            <a:r>
              <a:rPr lang="en-IN" dirty="0" smtClean="0">
                <a:latin typeface="Cambria" panose="02040503050406030204" pitchFamily="18" charset="0"/>
                <a:ea typeface="Cambria" panose="02040503050406030204" pitchFamily="18" charset="0"/>
                <a:sym typeface="+mn-ea"/>
              </a:rPr>
              <a:t>Chapter 9 : </a:t>
            </a:r>
            <a:r>
              <a:rPr lang="en-US" altLang="en-US" dirty="0" smtClean="0">
                <a:latin typeface="Cambria" panose="02040503050406030204" pitchFamily="18" charset="0"/>
                <a:ea typeface="Cambria" panose="02040503050406030204" pitchFamily="18" charset="0"/>
                <a:sym typeface="+mn-ea"/>
              </a:rPr>
              <a:t>Analytics &amp; ROI – Using Data-Driven Insights </a:t>
            </a:r>
            <a:endParaRPr lang="en-US" altLang="en-US" dirty="0" smtClean="0">
              <a:latin typeface="Cambria" panose="02040503050406030204" pitchFamily="18" charset="0"/>
              <a:ea typeface="Cambria" panose="02040503050406030204" pitchFamily="18" charset="0"/>
              <a:sym typeface="+mn-ea"/>
            </a:endParaRPr>
          </a:p>
          <a:p>
            <a:r>
              <a:rPr lang="en-US" altLang="en-US" dirty="0" smtClean="0">
                <a:latin typeface="Cambria" panose="02040503050406030204" pitchFamily="18" charset="0"/>
                <a:ea typeface="Cambria" panose="02040503050406030204" pitchFamily="18" charset="0"/>
                <a:sym typeface="+mn-ea"/>
              </a:rPr>
              <a:t>for Improvement</a:t>
            </a:r>
            <a:br>
              <a:rPr lang="en-IN" dirty="0" smtClean="0">
                <a:latin typeface="Cambria" panose="02040503050406030204" pitchFamily="18" charset="0"/>
                <a:ea typeface="Cambria" panose="02040503050406030204" pitchFamily="18" charset="0"/>
                <a:sym typeface="+mn-ea"/>
              </a:rPr>
            </a:br>
            <a:endParaRPr lang="en-IN" dirty="0" smtClean="0">
              <a:latin typeface="Cambria" panose="02040503050406030204" pitchFamily="18" charset="0"/>
              <a:ea typeface="Cambria" panose="02040503050406030204" pitchFamily="18" charset="0"/>
              <a:sym typeface="+mn-ea"/>
            </a:endParaRPr>
          </a:p>
          <a:p>
            <a:r>
              <a:rPr lang="en-IN" dirty="0" smtClean="0">
                <a:latin typeface="Cambria" panose="02040503050406030204" pitchFamily="18" charset="0"/>
                <a:ea typeface="Cambria" panose="02040503050406030204" pitchFamily="18" charset="0"/>
                <a:sym typeface="+mn-ea"/>
              </a:rPr>
              <a:t>Chapter 10 : </a:t>
            </a:r>
            <a:r>
              <a:rPr lang="en-US" altLang="en-US" dirty="0" smtClean="0">
                <a:latin typeface="Cambria" panose="02040503050406030204" pitchFamily="18" charset="0"/>
                <a:ea typeface="Cambria" panose="02040503050406030204" pitchFamily="18" charset="0"/>
              </a:rPr>
              <a:t>Conclusion &amp; Future Roadmap – Scaling </a:t>
            </a:r>
            <a:endParaRPr lang="en-US" altLang="en-US" dirty="0" smtClean="0">
              <a:latin typeface="Cambria" panose="02040503050406030204" pitchFamily="18" charset="0"/>
              <a:ea typeface="Cambria" panose="02040503050406030204" pitchFamily="18" charset="0"/>
            </a:endParaRPr>
          </a:p>
          <a:p>
            <a:r>
              <a:rPr lang="en-US" altLang="en-US" dirty="0" smtClean="0">
                <a:latin typeface="Cambria" panose="02040503050406030204" pitchFamily="18" charset="0"/>
                <a:ea typeface="Cambria" panose="02040503050406030204" pitchFamily="18" charset="0"/>
              </a:rPr>
              <a:t>Sales and Employment Growth</a:t>
            </a:r>
            <a:endParaRPr lang="en-US" altLang="en-US" dirty="0" smtClean="0">
              <a:latin typeface="Cambria" panose="02040503050406030204" pitchFamily="18" charset="0"/>
              <a:ea typeface="Cambria" panose="02040503050406030204" pitchFamily="18" charset="0"/>
            </a:endParaRPr>
          </a:p>
          <a:p>
            <a:endParaRPr lang="en-IN" dirty="0" smtClean="0">
              <a:latin typeface="Cambria" panose="02040503050406030204" pitchFamily="18" charset="0"/>
              <a:ea typeface="Cambria" panose="02040503050406030204" pitchFamily="18" charset="0"/>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1: Introduction to DPD Journals – Brand </a:t>
            </a:r>
            <a:br>
              <a:rPr lang="en-US" altLang="en-US"/>
            </a:br>
            <a:r>
              <a:rPr lang="en-US" altLang="en-US"/>
              <a:t>Overview, Mission, and Products</a:t>
            </a:r>
            <a:endParaRPr lang="en-US" altLang="en-US"/>
          </a:p>
        </p:txBody>
      </p:sp>
      <p:sp>
        <p:nvSpPr>
          <p:cNvPr id="3" name="Text Placeholder 2"/>
          <p:cNvSpPr>
            <a:spLocks noGrp="1"/>
          </p:cNvSpPr>
          <p:nvPr>
            <p:ph type="body" idx="1"/>
          </p:nvPr>
        </p:nvSpPr>
        <p:spPr/>
        <p:txBody>
          <a:bodyPr>
            <a:normAutofit fontScale="80000"/>
          </a:bodyPr>
          <a:p>
            <a:pPr marL="76200" indent="0">
              <a:buNone/>
            </a:pPr>
            <a:r>
              <a:rPr lang="en-US" altLang="en-US"/>
              <a:t>DPD Journals is a leading provider of premium stationery and publishing products, </a:t>
            </a:r>
            <a:endParaRPr lang="en-US" altLang="en-US"/>
          </a:p>
          <a:p>
            <a:pPr marL="76200" indent="0">
              <a:buNone/>
            </a:pPr>
            <a:r>
              <a:rPr lang="en-US" altLang="en-US"/>
              <a:t>specializing in high-quality journals, diaries, planners, and employment-related </a:t>
            </a:r>
            <a:endParaRPr lang="en-US" altLang="en-US"/>
          </a:p>
          <a:p>
            <a:pPr marL="76200" indent="0">
              <a:buNone/>
            </a:pPr>
            <a:r>
              <a:rPr lang="en-US" altLang="en-US"/>
              <a:t>publications. With a legacy of trust and reliability, the brand aims to empower individuals </a:t>
            </a:r>
            <a:endParaRPr lang="en-US" altLang="en-US"/>
          </a:p>
          <a:p>
            <a:pPr marL="76200" indent="0">
              <a:buNone/>
            </a:pPr>
            <a:r>
              <a:rPr lang="en-US" altLang="en-US"/>
              <a:t>in their academic, professional, and creative pursuits.</a:t>
            </a:r>
            <a:endParaRPr lang="en-US" altLang="en-US"/>
          </a:p>
          <a:p>
            <a:pPr marL="76200" indent="0">
              <a:buNone/>
            </a:pPr>
            <a:r>
              <a:rPr lang="en-US" altLang="en-US"/>
              <a:t>Mission:</a:t>
            </a:r>
            <a:endParaRPr lang="en-US" altLang="en-US"/>
          </a:p>
          <a:p>
            <a:pPr marL="76200" indent="0">
              <a:buNone/>
            </a:pPr>
            <a:r>
              <a:rPr lang="en-US" altLang="en-US"/>
              <a:t>To provide innovative, accessible, and user-friendly stationery and publishing solutions </a:t>
            </a:r>
            <a:endParaRPr lang="en-US" altLang="en-US"/>
          </a:p>
          <a:p>
            <a:pPr marL="76200" indent="0">
              <a:buNone/>
            </a:pPr>
            <a:r>
              <a:rPr lang="en-US" altLang="en-US"/>
              <a:t>that inspire productivity, creativity, and lifelong learning.</a:t>
            </a:r>
            <a:endParaRPr lang="en-US" altLang="en-US"/>
          </a:p>
          <a:p>
            <a:pPr marL="76200" indent="0">
              <a:buNone/>
            </a:pPr>
            <a:r>
              <a:rPr lang="en-US" altLang="en-US"/>
              <a:t>Products:</a:t>
            </a:r>
            <a:endParaRPr lang="en-US" altLang="en-US"/>
          </a:p>
          <a:p>
            <a:pPr marL="76200" indent="0">
              <a:buNone/>
            </a:pPr>
            <a:r>
              <a:rPr lang="en-US" altLang="en-US"/>
              <a:t>• Academic and professional journals</a:t>
            </a:r>
            <a:endParaRPr lang="en-US" altLang="en-US"/>
          </a:p>
          <a:p>
            <a:pPr marL="76200" indent="0">
              <a:buNone/>
            </a:pPr>
            <a:r>
              <a:rPr lang="en-US" altLang="en-US"/>
              <a:t>• Planners and organizers</a:t>
            </a:r>
            <a:endParaRPr lang="en-US" altLang="en-US"/>
          </a:p>
          <a:p>
            <a:pPr marL="76200" indent="0">
              <a:buNone/>
            </a:pPr>
            <a:r>
              <a:rPr lang="en-US" altLang="en-US"/>
              <a:t>• Employment News and career-oriented publications</a:t>
            </a:r>
            <a:endParaRPr lang="en-US" altLang="en-US"/>
          </a:p>
          <a:p>
            <a:pPr marL="76200" indent="0">
              <a:buNone/>
            </a:pPr>
            <a:r>
              <a:rPr lang="en-US" altLang="en-US"/>
              <a:t>• Custom stationery solutions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12800" y="268288"/>
            <a:ext cx="10668000" cy="487500"/>
          </a:xfrm>
        </p:spPr>
        <p:txBody>
          <a:bodyPr/>
          <a:p>
            <a:r>
              <a:rPr lang="en-IN" altLang="en-US"/>
              <a:t>Chapter </a:t>
            </a:r>
            <a:r>
              <a:rPr lang="en-US" altLang="en-US"/>
              <a:t>2: Market Analysis – Stationery Market Trends and Online Competition</a:t>
            </a:r>
            <a:endParaRPr lang="en-US" altLang="en-US"/>
          </a:p>
        </p:txBody>
      </p:sp>
      <p:sp>
        <p:nvSpPr>
          <p:cNvPr id="3" name="Text Placeholder 2"/>
          <p:cNvSpPr>
            <a:spLocks noGrp="1"/>
          </p:cNvSpPr>
          <p:nvPr>
            <p:ph type="body" idx="1"/>
          </p:nvPr>
        </p:nvSpPr>
        <p:spPr>
          <a:xfrm>
            <a:off x="812800" y="1479550"/>
            <a:ext cx="10668000" cy="5105400"/>
          </a:xfrm>
        </p:spPr>
        <p:txBody>
          <a:bodyPr>
            <a:normAutofit fontScale="70000"/>
          </a:bodyPr>
          <a:p>
            <a:pPr marL="76200" indent="0">
              <a:buNone/>
            </a:pPr>
            <a:r>
              <a:rPr lang="en-US" altLang="en-US"/>
              <a:t>The global stationery market is witnessing steady growth, driven by the rising demand for </a:t>
            </a:r>
            <a:endParaRPr lang="en-US" altLang="en-US"/>
          </a:p>
          <a:p>
            <a:pPr marL="76200" indent="0">
              <a:buNone/>
            </a:pPr>
            <a:r>
              <a:rPr lang="en-US" altLang="en-US"/>
              <a:t>personalized, eco-friendly, and digitally integrated stationery. In India, the market has </a:t>
            </a:r>
            <a:endParaRPr lang="en-US" altLang="en-US"/>
          </a:p>
          <a:p>
            <a:pPr marL="76200" indent="0">
              <a:buNone/>
            </a:pPr>
            <a:r>
              <a:rPr lang="en-US" altLang="en-US"/>
              <a:t>shifted significantly toward online channels, with customers preferring e-commerce </a:t>
            </a:r>
            <a:endParaRPr lang="en-US" altLang="en-US"/>
          </a:p>
          <a:p>
            <a:pPr marL="76200" indent="0">
              <a:buNone/>
            </a:pPr>
            <a:r>
              <a:rPr lang="en-US" altLang="en-US"/>
              <a:t>platforms for convenience.</a:t>
            </a:r>
            <a:endParaRPr lang="en-US" altLang="en-US"/>
          </a:p>
          <a:p>
            <a:pPr marL="76200" indent="0">
              <a:buNone/>
            </a:pPr>
            <a:r>
              <a:rPr lang="en-US" altLang="en-US"/>
              <a:t>Key Trends:</a:t>
            </a:r>
            <a:endParaRPr lang="en-US" altLang="en-US"/>
          </a:p>
          <a:p>
            <a:pPr marL="76200" indent="0">
              <a:buNone/>
            </a:pPr>
            <a:r>
              <a:rPr lang="en-US" altLang="en-US"/>
              <a:t>• Increased adoption of eco-friendly paper and sustainable products.</a:t>
            </a:r>
            <a:endParaRPr lang="en-US" altLang="en-US"/>
          </a:p>
          <a:p>
            <a:pPr marL="76200" indent="0">
              <a:buNone/>
            </a:pPr>
            <a:r>
              <a:rPr lang="en-US" altLang="en-US"/>
              <a:t>• Growing interest in aesthetic stationery among students and young professionals.</a:t>
            </a:r>
            <a:endParaRPr lang="en-US" altLang="en-US"/>
          </a:p>
          <a:p>
            <a:pPr marL="76200" indent="0">
              <a:buNone/>
            </a:pPr>
            <a:r>
              <a:rPr lang="en-US" altLang="en-US"/>
              <a:t>• Integration of stationery with productivity tools and digital solutions.</a:t>
            </a:r>
            <a:endParaRPr lang="en-US" altLang="en-US"/>
          </a:p>
          <a:p>
            <a:pPr marL="76200" indent="0">
              <a:buNone/>
            </a:pPr>
            <a:r>
              <a:rPr lang="en-US" altLang="en-US"/>
              <a:t>Competition:</a:t>
            </a:r>
            <a:endParaRPr lang="en-US" altLang="en-US"/>
          </a:p>
          <a:p>
            <a:pPr marL="76200" indent="0">
              <a:buNone/>
            </a:pPr>
            <a:r>
              <a:rPr lang="en-US" altLang="en-US"/>
              <a:t>• Online platforms like Amazon, Flipkart, and niche stationery e-shops dominate </a:t>
            </a:r>
            <a:endParaRPr lang="en-US" altLang="en-US"/>
          </a:p>
          <a:p>
            <a:pPr marL="76200" indent="0">
              <a:buNone/>
            </a:pPr>
            <a:r>
              <a:rPr lang="en-US" altLang="en-US"/>
              <a:t>sales.</a:t>
            </a:r>
            <a:endParaRPr lang="en-US" altLang="en-US"/>
          </a:p>
          <a:p>
            <a:pPr marL="76200" indent="0">
              <a:buNone/>
            </a:pPr>
            <a:r>
              <a:rPr lang="en-US" altLang="en-US"/>
              <a:t>• Competitors include Classmate, Navneet, and international brands like Moleskine.</a:t>
            </a:r>
            <a:endParaRPr lang="en-US" altLang="en-US"/>
          </a:p>
          <a:p>
            <a:pPr marL="76200" indent="0">
              <a:buNone/>
            </a:pPr>
            <a:r>
              <a:rPr lang="en-US" altLang="en-US"/>
              <a:t>• Social media-driven stationery startups are gaining popularity among Gen Z.</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3: Target Audience – Students, Professionals, Artists, and Planners</a:t>
            </a:r>
            <a:endParaRPr lang="en-US" altLang="en-US"/>
          </a:p>
        </p:txBody>
      </p:sp>
      <p:sp>
        <p:nvSpPr>
          <p:cNvPr id="3" name="Text Placeholder 2"/>
          <p:cNvSpPr>
            <a:spLocks noGrp="1"/>
          </p:cNvSpPr>
          <p:nvPr>
            <p:ph type="body" idx="1"/>
          </p:nvPr>
        </p:nvSpPr>
        <p:spPr/>
        <p:txBody>
          <a:bodyPr>
            <a:normAutofit/>
          </a:bodyPr>
          <a:p>
            <a:pPr marL="76200" indent="0">
              <a:buNone/>
            </a:pPr>
            <a:r>
              <a:rPr lang="en-US" altLang="en-US"/>
              <a:t>• Students: Journals and planners for note-taking, exam prep, and self-organization.</a:t>
            </a:r>
            <a:endParaRPr lang="en-US" altLang="en-US"/>
          </a:p>
          <a:p>
            <a:pPr marL="76200" indent="0">
              <a:buNone/>
            </a:pPr>
            <a:r>
              <a:rPr lang="en-US" altLang="en-US"/>
              <a:t>• Professionals: Employment News, career-oriented journals, and productivity </a:t>
            </a:r>
            <a:endParaRPr lang="en-US" altLang="en-US"/>
          </a:p>
          <a:p>
            <a:pPr marL="76200" indent="0">
              <a:buNone/>
            </a:pPr>
            <a:r>
              <a:rPr lang="en-US" altLang="en-US"/>
              <a:t>planners.</a:t>
            </a:r>
            <a:endParaRPr lang="en-US" altLang="en-US"/>
          </a:p>
          <a:p>
            <a:pPr marL="76200" indent="0">
              <a:buNone/>
            </a:pPr>
            <a:r>
              <a:rPr lang="en-US" altLang="en-US"/>
              <a:t>• Artists: Sketch-friendly journals and customizable stationery.</a:t>
            </a:r>
            <a:endParaRPr lang="en-US" altLang="en-US"/>
          </a:p>
          <a:p>
            <a:pPr marL="76200" indent="0">
              <a:buNone/>
            </a:pPr>
            <a:r>
              <a:rPr lang="en-US" altLang="en-US"/>
              <a:t>• Planners/Organizers: Daily, weekly, and monthly planners designed for goal_x0002_setting and task management.</a:t>
            </a:r>
            <a:endParaRPr lang="en-US" altLang="en-US"/>
          </a:p>
          <a:p>
            <a:pPr marL="76200" indent="0">
              <a:buNone/>
            </a:pPr>
            <a:r>
              <a:rPr lang="en-US" altLang="en-US"/>
              <a:t>The target audience values affordability, quality, and ease of availability through online </a:t>
            </a:r>
            <a:endParaRPr lang="en-US" altLang="en-US"/>
          </a:p>
          <a:p>
            <a:pPr marL="76200" indent="0">
              <a:buNone/>
            </a:pPr>
            <a:r>
              <a:rPr lang="en-US" altLang="en-US"/>
              <a:t>channels.</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4: SEO Strategy – Keyword Research, On_x0002_Page/Off-Page Optimization</a:t>
            </a:r>
            <a:endParaRPr lang="en-US" altLang="en-US"/>
          </a:p>
        </p:txBody>
      </p:sp>
      <p:sp>
        <p:nvSpPr>
          <p:cNvPr id="3" name="Text Placeholder 2"/>
          <p:cNvSpPr>
            <a:spLocks noGrp="1"/>
          </p:cNvSpPr>
          <p:nvPr>
            <p:ph type="body" idx="1"/>
          </p:nvPr>
        </p:nvSpPr>
        <p:spPr/>
        <p:txBody>
          <a:bodyPr>
            <a:normAutofit lnSpcReduction="20000"/>
          </a:bodyPr>
          <a:p>
            <a:pPr marL="76200" indent="0">
              <a:buNone/>
            </a:pPr>
            <a:r>
              <a:rPr lang="en-US" altLang="en-US"/>
              <a:t>Keyword Research: Focus on long-tail keywords like “best academic journals India,” </a:t>
            </a:r>
            <a:endParaRPr lang="en-US" altLang="en-US"/>
          </a:p>
          <a:p>
            <a:pPr marL="76200" indent="0">
              <a:buNone/>
            </a:pPr>
            <a:r>
              <a:rPr lang="en-US" altLang="en-US"/>
              <a:t>“career planners online,” “buy employment news digital,” and “stationery for students.”</a:t>
            </a:r>
            <a:endParaRPr lang="en-US" altLang="en-US"/>
          </a:p>
          <a:p>
            <a:pPr marL="76200" indent="0">
              <a:buNone/>
            </a:pPr>
            <a:r>
              <a:rPr lang="en-US" altLang="en-US"/>
              <a:t>On-Page SEO:</a:t>
            </a:r>
            <a:endParaRPr lang="en-US" altLang="en-US"/>
          </a:p>
          <a:p>
            <a:pPr marL="76200" indent="0">
              <a:buNone/>
            </a:pPr>
            <a:r>
              <a:rPr lang="en-US" altLang="en-US"/>
              <a:t>• Optimize product titles, descriptions, and meta tags.</a:t>
            </a:r>
            <a:endParaRPr lang="en-US" altLang="en-US"/>
          </a:p>
          <a:p>
            <a:pPr marL="76200" indent="0">
              <a:buNone/>
            </a:pPr>
            <a:r>
              <a:rPr lang="en-US" altLang="en-US"/>
              <a:t>• Create blogs on productivity, career tips, and study hacks.</a:t>
            </a:r>
            <a:endParaRPr lang="en-US" altLang="en-US"/>
          </a:p>
          <a:p>
            <a:pPr marL="76200" indent="0">
              <a:buNone/>
            </a:pPr>
            <a:r>
              <a:rPr lang="en-US" altLang="en-US"/>
              <a:t>• Improve site speed and mobile responsiveness.</a:t>
            </a:r>
            <a:endParaRPr lang="en-US" altLang="en-US"/>
          </a:p>
          <a:p>
            <a:pPr marL="76200" indent="0">
              <a:buNone/>
            </a:pPr>
            <a:r>
              <a:rPr lang="en-US" altLang="en-US"/>
              <a:t>Off-Page SEO:</a:t>
            </a:r>
            <a:endParaRPr lang="en-US" altLang="en-US"/>
          </a:p>
          <a:p>
            <a:pPr marL="76200" indent="0">
              <a:buNone/>
            </a:pPr>
            <a:r>
              <a:rPr lang="en-US" altLang="en-US"/>
              <a:t>• Backlink building through collaborations with education portals and career </a:t>
            </a:r>
            <a:endParaRPr lang="en-US" altLang="en-US"/>
          </a:p>
          <a:p>
            <a:pPr marL="76200" indent="0">
              <a:buNone/>
            </a:pPr>
            <a:r>
              <a:rPr lang="en-US" altLang="en-US"/>
              <a:t>websites.</a:t>
            </a:r>
            <a:endParaRPr lang="en-US" altLang="en-US"/>
          </a:p>
          <a:p>
            <a:pPr marL="76200" indent="0">
              <a:buNone/>
            </a:pPr>
            <a:r>
              <a:rPr lang="en-US" altLang="en-US"/>
              <a:t>• Guest posts on productivity and career growth blogs.</a:t>
            </a:r>
            <a:endParaRPr lang="en-US" altLang="en-US"/>
          </a:p>
          <a:p>
            <a:pPr marL="76200" indent="0">
              <a:buNone/>
            </a:pPr>
            <a:r>
              <a:rPr lang="en-US" altLang="en-US"/>
              <a:t>• Directory listings on stationery and e-commerce aggregators.</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5: Social Media Marketing – Instagram </a:t>
            </a:r>
            <a:br>
              <a:rPr lang="en-US" altLang="en-US"/>
            </a:br>
            <a:r>
              <a:rPr lang="en-US" altLang="en-US"/>
              <a:t>Campaigns, Influencer Reach</a:t>
            </a:r>
            <a:endParaRPr lang="en-US" altLang="en-US"/>
          </a:p>
        </p:txBody>
      </p:sp>
      <p:sp>
        <p:nvSpPr>
          <p:cNvPr id="3" name="Text Placeholder 2"/>
          <p:cNvSpPr>
            <a:spLocks noGrp="1"/>
          </p:cNvSpPr>
          <p:nvPr>
            <p:ph type="body" idx="1"/>
          </p:nvPr>
        </p:nvSpPr>
        <p:spPr>
          <a:xfrm>
            <a:off x="812800" y="1085215"/>
            <a:ext cx="10668000" cy="5229860"/>
          </a:xfrm>
        </p:spPr>
        <p:txBody>
          <a:bodyPr>
            <a:normAutofit lnSpcReduction="20000"/>
          </a:bodyPr>
          <a:p>
            <a:r>
              <a:rPr lang="en-US" altLang="en-US" sz="2665"/>
              <a:t>Instagram Campaigns:</a:t>
            </a:r>
            <a:endParaRPr lang="en-US" altLang="en-US" sz="2665"/>
          </a:p>
          <a:p>
            <a:r>
              <a:rPr lang="en-US" altLang="en-US" sz="2665"/>
              <a:t>• Launch hashtag campaigns like #PlanWithDPD or #JournalYourSuccess.</a:t>
            </a:r>
            <a:endParaRPr lang="en-US" altLang="en-US" sz="2665"/>
          </a:p>
          <a:p>
            <a:r>
              <a:rPr lang="en-US" altLang="en-US" sz="2665"/>
              <a:t>• Showcase user-generated content (UGC) of planners and journals in daily use.</a:t>
            </a:r>
            <a:endParaRPr lang="en-US" altLang="en-US" sz="2665"/>
          </a:p>
          <a:p>
            <a:r>
              <a:rPr lang="en-US" altLang="en-US" sz="2665"/>
              <a:t>• Post reels on productivity hacks and stationery unboxing.</a:t>
            </a:r>
            <a:endParaRPr lang="en-US" altLang="en-US" sz="2665"/>
          </a:p>
          <a:p>
            <a:r>
              <a:rPr lang="en-US" altLang="en-US" sz="2665"/>
              <a:t>Influencer Reach:</a:t>
            </a:r>
            <a:endParaRPr lang="en-US" altLang="en-US" sz="2665"/>
          </a:p>
          <a:p>
            <a:r>
              <a:rPr lang="en-US" altLang="en-US" sz="2665"/>
              <a:t>• Partner with micro-influencers in education, lifestyle, and productivity niches.</a:t>
            </a:r>
            <a:endParaRPr lang="en-US" altLang="en-US" sz="2665"/>
          </a:p>
          <a:p>
            <a:r>
              <a:rPr lang="en-US" altLang="en-US" sz="2665"/>
              <a:t>• Collaborations with YouTubers and Instagram educators for review videos.</a:t>
            </a:r>
            <a:endParaRPr lang="en-US" altLang="en-US" sz="2665"/>
          </a:p>
          <a:p>
            <a:r>
              <a:rPr lang="en-US" altLang="en-US" sz="2665"/>
              <a:t>• Seasonal campaigns during exam season, job fairs, and New Year resolutions.</a:t>
            </a:r>
            <a:endParaRPr lang="en-US" altLang="en-US" sz="266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31781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altLang="en-US">
                <a:sym typeface="+mn-ea"/>
              </a:rPr>
              <a:t>Chapter </a:t>
            </a:r>
            <a:r>
              <a:rPr lang="en-US" altLang="en-US" dirty="0">
                <a:latin typeface="Cambria" panose="02040503050406030204" pitchFamily="18" charset="0"/>
                <a:ea typeface="Cambria" panose="02040503050406030204" pitchFamily="18" charset="0"/>
                <a:sym typeface="+mn-ea"/>
              </a:rPr>
              <a:t>6: Email Marketing – Newsletters, Promotions,</a:t>
            </a:r>
            <a:r>
              <a:rPr lang="en-IN" altLang="en-US" dirty="0">
                <a:latin typeface="Cambria" panose="02040503050406030204" pitchFamily="18" charset="0"/>
                <a:ea typeface="Cambria" panose="02040503050406030204" pitchFamily="18" charset="0"/>
                <a:sym typeface="+mn-ea"/>
              </a:rPr>
              <a:t>Customer Retention</a:t>
            </a:r>
            <a:endParaRPr lang="en-IN" altLang="en-US" dirty="0">
              <a:latin typeface="Cambria" panose="02040503050406030204" pitchFamily="18" charset="0"/>
              <a:ea typeface="Cambria" panose="02040503050406030204" pitchFamily="18" charset="0"/>
              <a:sym typeface="+mn-ea"/>
            </a:endParaRPr>
          </a:p>
        </p:txBody>
      </p:sp>
      <p:sp>
        <p:nvSpPr>
          <p:cNvPr id="115" name="Google Shape;115;p17"/>
          <p:cNvSpPr txBox="1">
            <a:spLocks noGrp="1"/>
          </p:cNvSpPr>
          <p:nvPr>
            <p:ph type="body" idx="1"/>
          </p:nvPr>
        </p:nvSpPr>
        <p:spPr>
          <a:xfrm>
            <a:off x="812800" y="1871345"/>
            <a:ext cx="10668000" cy="4986655"/>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 Newsletters: Regular updates on new product launches, educational insights, and </a:t>
            </a:r>
            <a:endParaRPr lang="en-US" alt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productivity tips.</a:t>
            </a:r>
            <a:endParaRPr lang="en-US" alt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 Promotions: Exclusive discounts, bundle offers, and festive sales sent directly to </a:t>
            </a:r>
            <a:endParaRPr lang="en-US" alt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subscribers.</a:t>
            </a:r>
            <a:endParaRPr lang="en-US" alt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 Customer Retention: Personalized email flows for abandoned carts, re_x0002_engagement campaigns, and loyalty rewards for frequent buyers.</a:t>
            </a:r>
            <a:endParaRPr lang="en-US" alt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Email marketing ensures a consistent relationship with the audience, driving repeat </a:t>
            </a:r>
            <a:endParaRPr lang="en-US" alt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purchases and long-term engagement.</a:t>
            </a: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7: E-commerce &amp; Amazon Strategy – Optimizing Listings and Ads</a:t>
            </a:r>
            <a:endParaRPr lang="en-US" altLang="en-US"/>
          </a:p>
        </p:txBody>
      </p:sp>
      <p:sp>
        <p:nvSpPr>
          <p:cNvPr id="3" name="Text Placeholder 2"/>
          <p:cNvSpPr>
            <a:spLocks noGrp="1"/>
          </p:cNvSpPr>
          <p:nvPr>
            <p:ph type="body" idx="1"/>
          </p:nvPr>
        </p:nvSpPr>
        <p:spPr>
          <a:xfrm>
            <a:off x="812800" y="1016000"/>
            <a:ext cx="10668000" cy="5207000"/>
          </a:xfrm>
        </p:spPr>
        <p:txBody>
          <a:bodyPr/>
          <a:p>
            <a:pPr marL="76200" indent="0">
              <a:buNone/>
            </a:pPr>
            <a:r>
              <a:rPr lang="en-US" altLang="en-US" sz="1600">
                <a:latin typeface="Cambria" panose="02040503050406030204" pitchFamily="18" charset="0"/>
                <a:cs typeface="Cambria" panose="02040503050406030204" pitchFamily="18" charset="0"/>
              </a:rPr>
              <a:t>Amazon Storefront Optimization:</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Create detailed product listings with keyword-rich titles, bullet points, and </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descriptions.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Use high-quality images and infographics highlighting features like durability, eco_x0002_friendliness, or career benefits.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Leverage A+ content (enhanced brand content) for storytelling and product </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comparisons.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Amazon Ads &amp; Promotions: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Run Sponsored Products Ads to boost visibility in relevant stationery and career_x0002_related searches.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Target competitor keywords and related categories to capture audience attention.</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Use Lightning Deals and seasonal offers (exam seasons, New Year, Independence </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Day, Diwali) to drive sales.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Other E-commerce Platforms: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Expand presence on Flipkart, Snapdeal, and niche stationery e-shops.</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 Offer subscription models for journals and Employment News to ensure repeat </a:t>
            </a:r>
            <a:endParaRPr lang="en-US" altLang="en-US" sz="1600">
              <a:latin typeface="Cambria" panose="02040503050406030204" pitchFamily="18" charset="0"/>
              <a:cs typeface="Cambria" panose="02040503050406030204" pitchFamily="18" charset="0"/>
            </a:endParaRPr>
          </a:p>
          <a:p>
            <a:pPr marL="76200" indent="0">
              <a:buNone/>
            </a:pPr>
            <a:r>
              <a:rPr lang="en-US" altLang="en-US" sz="1600">
                <a:latin typeface="Cambria" panose="02040503050406030204" pitchFamily="18" charset="0"/>
                <a:cs typeface="Cambria" panose="02040503050406030204" pitchFamily="18" charset="0"/>
              </a:rPr>
              <a:t>sales.</a:t>
            </a:r>
            <a:endParaRPr lang="en-US" altLang="en-US" sz="1600">
              <a:latin typeface="Cambria" panose="02040503050406030204" pitchFamily="18" charset="0"/>
              <a:cs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8: Content Marketing – Blogs, YouTube, Tutorials, Customer Stories</a:t>
            </a:r>
            <a:endParaRPr lang="en-US" altLang="en-US"/>
          </a:p>
        </p:txBody>
      </p:sp>
      <p:sp>
        <p:nvSpPr>
          <p:cNvPr id="3" name="Text Placeholder 2"/>
          <p:cNvSpPr>
            <a:spLocks noGrp="1"/>
          </p:cNvSpPr>
          <p:nvPr>
            <p:ph type="body" idx="1"/>
          </p:nvPr>
        </p:nvSpPr>
        <p:spPr/>
        <p:txBody>
          <a:bodyPr>
            <a:normAutofit fontScale="90000" lnSpcReduction="20000"/>
          </a:bodyPr>
          <a:p>
            <a:pPr marL="76200" indent="0">
              <a:buNone/>
            </a:pPr>
            <a:r>
              <a:rPr lang="en-US" altLang="en-US"/>
              <a:t>Blogs &amp; Articles:</a:t>
            </a:r>
            <a:endParaRPr lang="en-US" altLang="en-US"/>
          </a:p>
          <a:p>
            <a:pPr marL="76200" indent="0">
              <a:buNone/>
            </a:pPr>
            <a:r>
              <a:rPr lang="en-US" altLang="en-US"/>
              <a:t>• Topics like “Top 5 Planners for Students in 2025,” “How to Journal for Success,” </a:t>
            </a:r>
            <a:endParaRPr lang="en-US" altLang="en-US"/>
          </a:p>
          <a:p>
            <a:pPr marL="76200" indent="0">
              <a:buNone/>
            </a:pPr>
            <a:r>
              <a:rPr lang="en-US" altLang="en-US"/>
              <a:t>“Best Career Planning Tips.”</a:t>
            </a:r>
            <a:endParaRPr lang="en-US" altLang="en-US"/>
          </a:p>
          <a:p>
            <a:pPr marL="76200" indent="0">
              <a:buNone/>
            </a:pPr>
            <a:r>
              <a:rPr lang="en-US" altLang="en-US"/>
              <a:t>• SEO-optimized content to drive organic traffic and build brand authority.</a:t>
            </a:r>
            <a:endParaRPr lang="en-US" altLang="en-US"/>
          </a:p>
          <a:p>
            <a:pPr marL="76200" indent="0">
              <a:buNone/>
            </a:pPr>
            <a:r>
              <a:rPr lang="en-US" altLang="en-US"/>
              <a:t>YouTube Tutorials:</a:t>
            </a:r>
            <a:endParaRPr lang="en-US" altLang="en-US"/>
          </a:p>
          <a:p>
            <a:pPr marL="76200" indent="0">
              <a:buNone/>
            </a:pPr>
            <a:r>
              <a:rPr lang="en-US" altLang="en-US"/>
              <a:t>• Short videos demonstrating how to use planners for productivity.</a:t>
            </a:r>
            <a:endParaRPr lang="en-US" altLang="en-US"/>
          </a:p>
          <a:p>
            <a:pPr marL="76200" indent="0">
              <a:buNone/>
            </a:pPr>
            <a:r>
              <a:rPr lang="en-US" altLang="en-US"/>
              <a:t>• Career guidance content tied to Employment News.</a:t>
            </a:r>
            <a:endParaRPr lang="en-US" altLang="en-US"/>
          </a:p>
          <a:p>
            <a:pPr marL="76200" indent="0">
              <a:buNone/>
            </a:pPr>
            <a:r>
              <a:rPr lang="en-US" altLang="en-US"/>
              <a:t>• Collaborations with educators and productivity coaches.</a:t>
            </a:r>
            <a:endParaRPr lang="en-US" altLang="en-US"/>
          </a:p>
          <a:p>
            <a:pPr marL="76200" indent="0">
              <a:buNone/>
            </a:pPr>
            <a:r>
              <a:rPr lang="en-US" altLang="en-US"/>
              <a:t>Customer Stories:</a:t>
            </a:r>
            <a:endParaRPr lang="en-US" altLang="en-US"/>
          </a:p>
          <a:p>
            <a:pPr marL="76200" indent="0">
              <a:buNone/>
            </a:pPr>
            <a:r>
              <a:rPr lang="en-US" altLang="en-US"/>
              <a:t>• Share testimonials and success stories of students cracking exams, professionals </a:t>
            </a:r>
            <a:endParaRPr lang="en-US" altLang="en-US"/>
          </a:p>
          <a:p>
            <a:pPr marL="76200" indent="0">
              <a:buNone/>
            </a:pPr>
            <a:r>
              <a:rPr lang="en-US" altLang="en-US"/>
              <a:t>advancing careers, or artists showcasing their creativity with DPD Journals.</a:t>
            </a:r>
            <a:endParaRPr lang="en-US" altLang="en-US"/>
          </a:p>
          <a:p>
            <a:pPr marL="76200" indent="0">
              <a:buNone/>
            </a:pPr>
            <a:r>
              <a:rPr lang="en-US" altLang="en-US"/>
              <a:t>• Use blog features and video shorts for authenticity</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9: Analytics &amp; ROI – Using Data-Driven Insights for Improvement</a:t>
            </a:r>
            <a:endParaRPr lang="en-US" altLang="en-US"/>
          </a:p>
        </p:txBody>
      </p:sp>
      <p:sp>
        <p:nvSpPr>
          <p:cNvPr id="3" name="Text Placeholder 2"/>
          <p:cNvSpPr>
            <a:spLocks noGrp="1"/>
          </p:cNvSpPr>
          <p:nvPr>
            <p:ph type="body" idx="1"/>
          </p:nvPr>
        </p:nvSpPr>
        <p:spPr/>
        <p:txBody>
          <a:bodyPr>
            <a:normAutofit fontScale="90000" lnSpcReduction="20000"/>
          </a:bodyPr>
          <a:p>
            <a:r>
              <a:rPr lang="en-US" altLang="en-US"/>
              <a:t>Key Metrics to Track:</a:t>
            </a:r>
            <a:endParaRPr lang="en-US" altLang="en-US"/>
          </a:p>
          <a:p>
            <a:r>
              <a:rPr lang="en-US" altLang="en-US"/>
              <a:t>• Website traffic, bounce rate, and conversion rates.</a:t>
            </a:r>
            <a:endParaRPr lang="en-US" altLang="en-US"/>
          </a:p>
          <a:p>
            <a:r>
              <a:rPr lang="en-US" altLang="en-US"/>
              <a:t>• Amazon and e-commerce sales volume, ad performance, and CTR.</a:t>
            </a:r>
            <a:endParaRPr lang="en-US" altLang="en-US"/>
          </a:p>
          <a:p>
            <a:r>
              <a:rPr lang="en-US" altLang="en-US"/>
              <a:t>• Social media engagement (likes, comments, shares, UGC participation).</a:t>
            </a:r>
            <a:endParaRPr lang="en-US" altLang="en-US"/>
          </a:p>
          <a:p>
            <a:r>
              <a:rPr lang="en-US" altLang="en-US"/>
              <a:t>• Email open rates, CTR, and subscription growth.</a:t>
            </a:r>
            <a:endParaRPr lang="en-US" altLang="en-US"/>
          </a:p>
          <a:p>
            <a:r>
              <a:rPr lang="en-US" altLang="en-US"/>
              <a:t>ROI Improvement Strategies:</a:t>
            </a:r>
            <a:endParaRPr lang="en-US" altLang="en-US"/>
          </a:p>
          <a:p>
            <a:r>
              <a:rPr lang="en-US" altLang="en-US"/>
              <a:t>• A/B testing product page designs, ad creatives, and email subject lines.</a:t>
            </a:r>
            <a:endParaRPr lang="en-US" altLang="en-US"/>
          </a:p>
          <a:p>
            <a:r>
              <a:rPr lang="en-US" altLang="en-US"/>
              <a:t>• Use analytics dashboards (Google Analytics, Amazon Seller Central, Meta Ads </a:t>
            </a:r>
            <a:endParaRPr lang="en-US" altLang="en-US"/>
          </a:p>
          <a:p>
            <a:r>
              <a:rPr lang="en-US" altLang="en-US"/>
              <a:t>Manager).</a:t>
            </a:r>
            <a:endParaRPr lang="en-US" altLang="en-US"/>
          </a:p>
          <a:p>
            <a:r>
              <a:rPr lang="en-US" altLang="en-US"/>
              <a:t>• Retargeting campaigns for customers who visited but didn’t purchase.</a:t>
            </a:r>
            <a:endParaRPr lang="en-US" altLang="en-US"/>
          </a:p>
          <a:p>
            <a:r>
              <a:rPr lang="en-US" altLang="en-US"/>
              <a:t>• Continuous refinement of keywords and campaign spending.</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Chapter </a:t>
            </a:r>
            <a:r>
              <a:rPr lang="en-US" altLang="en-US"/>
              <a:t>10: Conclusion &amp; Future Roadmap – Scaling </a:t>
            </a:r>
            <a:br>
              <a:rPr lang="en-US" altLang="en-US"/>
            </a:br>
            <a:r>
              <a:rPr lang="en-US" altLang="en-US"/>
              <a:t>Sales and Employment Growth</a:t>
            </a:r>
            <a:endParaRPr lang="en-US" altLang="en-US"/>
          </a:p>
        </p:txBody>
      </p:sp>
      <p:sp>
        <p:nvSpPr>
          <p:cNvPr id="3" name="Text Placeholder 2"/>
          <p:cNvSpPr>
            <a:spLocks noGrp="1"/>
          </p:cNvSpPr>
          <p:nvPr>
            <p:ph type="body" idx="1"/>
          </p:nvPr>
        </p:nvSpPr>
        <p:spPr/>
        <p:txBody>
          <a:bodyPr>
            <a:normAutofit fontScale="70000"/>
          </a:bodyPr>
          <a:p>
            <a:r>
              <a:rPr lang="en-US" altLang="en-US"/>
              <a:t>Conclusion:</a:t>
            </a:r>
            <a:endParaRPr lang="en-US" altLang="en-US"/>
          </a:p>
          <a:p>
            <a:r>
              <a:rPr lang="en-US" altLang="en-US"/>
              <a:t>DPD Journals has the potential to become a leading digital-first stationery and publishing </a:t>
            </a:r>
            <a:endParaRPr lang="en-US" altLang="en-US"/>
          </a:p>
          <a:p>
            <a:r>
              <a:rPr lang="en-US" altLang="en-US"/>
              <a:t>brand by combining strong online presence, targeted marketing strategies, and customer_x0002_centric innovation.</a:t>
            </a:r>
            <a:endParaRPr lang="en-US" altLang="en-US"/>
          </a:p>
          <a:p>
            <a:r>
              <a:rPr lang="en-US" altLang="en-US"/>
              <a:t>Future Roadmap:</a:t>
            </a:r>
            <a:endParaRPr lang="en-US" altLang="en-US"/>
          </a:p>
          <a:p>
            <a:r>
              <a:rPr lang="en-US" altLang="en-US"/>
              <a:t>• Short-term (1 month): Boost Amazon sales, expand Instagram influencer </a:t>
            </a:r>
            <a:endParaRPr lang="en-US" altLang="en-US"/>
          </a:p>
          <a:p>
            <a:r>
              <a:rPr lang="en-US" altLang="en-US"/>
              <a:t>collaborations, and build SEO-driven content hubs.</a:t>
            </a:r>
            <a:endParaRPr lang="en-US" altLang="en-US"/>
          </a:p>
          <a:p>
            <a:r>
              <a:rPr lang="en-US" altLang="en-US"/>
              <a:t>• Medium-term (4 months): Launch mobile app for direct purchases, implement </a:t>
            </a:r>
            <a:endParaRPr lang="en-US" altLang="en-US"/>
          </a:p>
          <a:p>
            <a:r>
              <a:rPr lang="en-US" altLang="en-US"/>
              <a:t>subscription-based models for Employment News, and scale YouTube presence.</a:t>
            </a:r>
            <a:endParaRPr lang="en-US" altLang="en-US"/>
          </a:p>
          <a:p>
            <a:r>
              <a:rPr lang="en-US" altLang="en-US"/>
              <a:t>• Long-term (8 months): Expand internationally, partner with global stationery </a:t>
            </a:r>
            <a:endParaRPr lang="en-US" altLang="en-US"/>
          </a:p>
          <a:p>
            <a:r>
              <a:rPr lang="en-US" altLang="en-US"/>
              <a:t>marketplaces, and become a recognized productivity brand for students, </a:t>
            </a:r>
            <a:endParaRPr lang="en-US" altLang="en-US"/>
          </a:p>
          <a:p>
            <a:r>
              <a:rPr lang="en-US" altLang="en-US"/>
              <a:t>professionals, and creatives.</a:t>
            </a:r>
            <a:endParaRPr lang="en-US" altLang="en-US"/>
          </a:p>
          <a:p>
            <a:r>
              <a:rPr lang="en-US" altLang="en-US"/>
              <a:t>The ultimate goal is not only to scale product sales but also to empower employment and </a:t>
            </a:r>
            <a:endParaRPr lang="en-US" altLang="en-US"/>
          </a:p>
          <a:p>
            <a:r>
              <a:rPr lang="en-US" altLang="en-US"/>
              <a:t>productivity growth, aligning with DPD’s mission.</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Architectural Diagram</a:t>
            </a:r>
            <a:endParaRPr lang="en-IN" altLang="en-US"/>
          </a:p>
        </p:txBody>
      </p:sp>
      <p:sp>
        <p:nvSpPr>
          <p:cNvPr id="3" name="Text Placeholder 2"/>
          <p:cNvSpPr>
            <a:spLocks noGrp="1"/>
          </p:cNvSpPr>
          <p:nvPr>
            <p:ph type="body" idx="1"/>
          </p:nvPr>
        </p:nvSpPr>
        <p:spPr/>
        <p:txBody>
          <a:bodyPr/>
          <a:p>
            <a:pPr marL="76200" indent="0">
              <a:buNone/>
            </a:pPr>
            <a:endParaRPr lang="en-IN" altLang="en-US"/>
          </a:p>
        </p:txBody>
      </p:sp>
      <p:pic>
        <p:nvPicPr>
          <p:cNvPr id="4" name="Picture 3"/>
          <p:cNvPicPr>
            <a:picLocks noChangeAspect="1"/>
          </p:cNvPicPr>
          <p:nvPr/>
        </p:nvPicPr>
        <p:blipFill>
          <a:blip r:embed="rId1"/>
          <a:stretch>
            <a:fillRect/>
          </a:stretch>
        </p:blipFill>
        <p:spPr>
          <a:xfrm>
            <a:off x="812800" y="1143000"/>
            <a:ext cx="10743565" cy="43141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Modules</a:t>
            </a:r>
            <a:endParaRPr lang="en-IN" altLang="en-US"/>
          </a:p>
        </p:txBody>
      </p:sp>
      <p:sp>
        <p:nvSpPr>
          <p:cNvPr id="3" name="Text Placeholder 2"/>
          <p:cNvSpPr>
            <a:spLocks noGrp="1"/>
          </p:cNvSpPr>
          <p:nvPr>
            <p:ph type="body" idx="1"/>
          </p:nvPr>
        </p:nvSpPr>
        <p:spPr/>
        <p:txBody>
          <a:bodyPr/>
          <a:p>
            <a:r>
              <a:rPr lang="en-IN" altLang="en-US"/>
              <a:t>Website &amp; App Module</a:t>
            </a:r>
            <a:endParaRPr lang="en-IN" altLang="en-US"/>
          </a:p>
          <a:p>
            <a:r>
              <a:rPr lang="en-IN" altLang="en-US"/>
              <a:t>SEO &amp; Content Module</a:t>
            </a:r>
            <a:endParaRPr lang="en-IN" altLang="en-US"/>
          </a:p>
          <a:p>
            <a:r>
              <a:rPr lang="en-IN" altLang="en-US"/>
              <a:t>Email &amp; Notification Module</a:t>
            </a:r>
            <a:endParaRPr lang="en-IN" altLang="en-US"/>
          </a:p>
          <a:p>
            <a:r>
              <a:rPr lang="en-IN" altLang="en-US"/>
              <a:t>Social Media &amp; Engagement Module</a:t>
            </a:r>
            <a:endParaRPr lang="en-IN" altLang="en-US"/>
          </a:p>
          <a:p>
            <a:r>
              <a:rPr lang="en-IN" altLang="en-US"/>
              <a:t>Marketplace Integraton Module</a:t>
            </a:r>
            <a:endParaRPr lang="en-IN" altLang="en-US"/>
          </a:p>
          <a:p>
            <a:r>
              <a:rPr lang="en-IN" altLang="en-US"/>
              <a:t>Analytics &amp; Tracking Module</a:t>
            </a:r>
            <a:endParaRPr lang="en-I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Hardware &amp; Software Details</a:t>
            </a:r>
            <a:endParaRPr lang="en-IN" altLang="en-US"/>
          </a:p>
        </p:txBody>
      </p:sp>
      <p:sp>
        <p:nvSpPr>
          <p:cNvPr id="3" name="Text Placeholder 2"/>
          <p:cNvSpPr>
            <a:spLocks noGrp="1"/>
          </p:cNvSpPr>
          <p:nvPr>
            <p:ph type="body" idx="1"/>
          </p:nvPr>
        </p:nvSpPr>
        <p:spPr/>
        <p:txBody>
          <a:bodyPr>
            <a:normAutofit fontScale="90000" lnSpcReduction="20000"/>
          </a:bodyPr>
          <a:p>
            <a:pPr marL="76200" indent="0">
              <a:buNone/>
            </a:pPr>
            <a:r>
              <a:rPr lang="en-IN" altLang="en-US" b="1" u="sng"/>
              <a:t>Hardware</a:t>
            </a:r>
            <a:r>
              <a:rPr lang="en-IN" altLang="en-US" b="1"/>
              <a:t>:</a:t>
            </a:r>
            <a:endParaRPr lang="en-IN" altLang="en-US" b="1"/>
          </a:p>
          <a:p>
            <a:pPr marL="76200" indent="0">
              <a:buNone/>
            </a:pPr>
            <a:r>
              <a:rPr lang="en-IN" altLang="en-US"/>
              <a:t>Servers/Laptop</a:t>
            </a:r>
            <a:endParaRPr lang="en-IN" altLang="en-US"/>
          </a:p>
          <a:p>
            <a:pPr marL="76200" indent="0">
              <a:buNone/>
            </a:pPr>
            <a:r>
              <a:rPr lang="en-IN" altLang="en-US"/>
              <a:t>Mobiles</a:t>
            </a:r>
            <a:endParaRPr lang="en-IN" altLang="en-US"/>
          </a:p>
          <a:p>
            <a:pPr marL="76200" indent="0">
              <a:buNone/>
            </a:pPr>
            <a:endParaRPr lang="en-IN" altLang="en-US"/>
          </a:p>
          <a:p>
            <a:pPr marL="76200" indent="0">
              <a:buNone/>
            </a:pPr>
            <a:r>
              <a:rPr lang="en-IN" altLang="en-US" b="1" u="sng"/>
              <a:t>Software</a:t>
            </a:r>
            <a:r>
              <a:rPr lang="en-IN" altLang="en-US" b="1"/>
              <a:t>:</a:t>
            </a:r>
            <a:endParaRPr lang="en-IN" altLang="en-US" b="1"/>
          </a:p>
          <a:p>
            <a:pPr marL="76200" indent="0">
              <a:buNone/>
            </a:pPr>
            <a:r>
              <a:rPr lang="en-IN" altLang="en-US"/>
              <a:t>Web : </a:t>
            </a:r>
            <a:r>
              <a:rPr lang="en-US" altLang="en-US"/>
              <a:t>HTML5, CSS3, JavaScript, React/Angular</a:t>
            </a:r>
            <a:endParaRPr lang="en-US" altLang="en-US"/>
          </a:p>
          <a:p>
            <a:pPr marL="76200" indent="0">
              <a:buNone/>
            </a:pPr>
            <a:r>
              <a:rPr lang="en-IN" altLang="en-US"/>
              <a:t>Backend : </a:t>
            </a:r>
            <a:r>
              <a:rPr lang="en-US" altLang="en-US"/>
              <a:t>Node.js</a:t>
            </a:r>
            <a:r>
              <a:rPr lang="en-IN" altLang="en-US"/>
              <a:t> </a:t>
            </a:r>
            <a:r>
              <a:rPr lang="en-US" altLang="en-US"/>
              <a:t>/</a:t>
            </a:r>
            <a:r>
              <a:rPr lang="en-IN" altLang="en-US"/>
              <a:t> </a:t>
            </a:r>
            <a:r>
              <a:rPr lang="en-US" altLang="en-US"/>
              <a:t>PHP / Python Django</a:t>
            </a:r>
            <a:endParaRPr lang="en-US" altLang="en-US"/>
          </a:p>
          <a:p>
            <a:pPr marL="76200" indent="0">
              <a:buNone/>
            </a:pPr>
            <a:r>
              <a:rPr lang="en-IN" altLang="en-US"/>
              <a:t>Database :</a:t>
            </a:r>
            <a:r>
              <a:rPr lang="en-US" altLang="en-US"/>
              <a:t>MySQL</a:t>
            </a:r>
            <a:r>
              <a:rPr lang="en-IN" altLang="en-US"/>
              <a:t> </a:t>
            </a:r>
            <a:r>
              <a:rPr lang="en-US" altLang="en-US"/>
              <a:t>/</a:t>
            </a:r>
            <a:r>
              <a:rPr lang="en-IN" altLang="en-US"/>
              <a:t> </a:t>
            </a:r>
            <a:r>
              <a:rPr lang="en-US" altLang="en-US"/>
              <a:t>MongoDB</a:t>
            </a:r>
            <a:endParaRPr lang="en-US" altLang="en-US"/>
          </a:p>
          <a:p>
            <a:pPr marL="76200" indent="0">
              <a:buNone/>
            </a:pPr>
            <a:r>
              <a:rPr lang="en-IN" altLang="en-US"/>
              <a:t>SEO : Google Search Console</a:t>
            </a:r>
            <a:endParaRPr lang="en-IN" altLang="en-US"/>
          </a:p>
          <a:p>
            <a:pPr marL="76200" indent="0">
              <a:buNone/>
            </a:pPr>
            <a:r>
              <a:rPr lang="en-IN" altLang="en-US"/>
              <a:t>Email Marketing : Mailchimp</a:t>
            </a:r>
            <a:endParaRPr lang="en-IN" altLang="en-US"/>
          </a:p>
          <a:p>
            <a:pPr marL="76200" indent="0">
              <a:buNone/>
            </a:pPr>
            <a:r>
              <a:rPr lang="en-IN" altLang="en-US"/>
              <a:t>Social Media : Meta Ads Manager</a:t>
            </a:r>
            <a:endParaRPr lang="en-IN" altLang="en-US"/>
          </a:p>
          <a:p>
            <a:pPr marL="76200" indent="0">
              <a:buNone/>
            </a:pPr>
            <a:r>
              <a:rPr lang="en-IN" altLang="en-US"/>
              <a:t>Designing : Canva / CapCut</a:t>
            </a:r>
            <a:endParaRPr lang="en-IN" altLang="en-US"/>
          </a:p>
          <a:p>
            <a:pPr marL="76200" indent="0">
              <a:buNone/>
            </a:pPr>
            <a:r>
              <a:rPr lang="en-IN" altLang="en-US"/>
              <a:t>Hosting : </a:t>
            </a:r>
            <a:r>
              <a:rPr lang="en-US" altLang="en-US"/>
              <a:t>AWS EC2</a:t>
            </a:r>
            <a:endParaRPr lang="en-US" altLang="en-US"/>
          </a:p>
          <a:p>
            <a:pPr marL="76200" indent="0">
              <a:buNone/>
            </a:pPr>
            <a:r>
              <a:rPr lang="en-IN" altLang="en-US"/>
              <a:t>Payment : Razorpay</a:t>
            </a:r>
            <a:endParaRPr lang="en-I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dirty="0" smtClean="0">
                <a:latin typeface="Cambria" panose="02040503050406030204" pitchFamily="18" charset="0"/>
                <a:ea typeface="Cambria" panose="02040503050406030204" pitchFamily="18" charset="0"/>
              </a:rPr>
              <a:t>The Github link provided should have public access permission.</a:t>
            </a: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smtClean="0">
                <a:solidFill>
                  <a:schemeClr val="accent2">
                    <a:lumMod val="75000"/>
                  </a:schemeClr>
                </a:solidFill>
                <a:latin typeface="Cambria" panose="02040503050406030204" pitchFamily="18" charset="0"/>
                <a:ea typeface="Cambria" panose="02040503050406030204" pitchFamily="18" charset="0"/>
              </a:rPr>
              <a:t>Github Link</a:t>
            </a:r>
            <a:r>
              <a:rPr lang="en-IN" altLang="en-US" b="1" dirty="0" smtClean="0">
                <a:solidFill>
                  <a:schemeClr val="accent2">
                    <a:lumMod val="75000"/>
                  </a:schemeClr>
                </a:solidFill>
                <a:latin typeface="Cambria" panose="02040503050406030204" pitchFamily="18" charset="0"/>
                <a:ea typeface="Cambria" panose="02040503050406030204" pitchFamily="18" charset="0"/>
              </a:rPr>
              <a:t> :</a:t>
            </a:r>
            <a:endParaRPr 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altLang="en-US" dirty="0" smtClean="0">
                <a:latin typeface="Cambria" panose="02040503050406030204" pitchFamily="18" charset="0"/>
                <a:ea typeface="Cambria" panose="02040503050406030204" pitchFamily="18" charset="0"/>
              </a:rPr>
              <a:t>https://github.com/revadithya/DPDJourn.git </a:t>
            </a:r>
            <a:endParaRPr lang="en-US" alt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alt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IN" altLang="en-US" dirty="0" smtClean="0">
                <a:latin typeface="Cambria" panose="02040503050406030204" pitchFamily="18" charset="0"/>
                <a:ea typeface="Cambria" panose="02040503050406030204" pitchFamily="18" charset="0"/>
              </a:rPr>
              <a:t>Output:</a:t>
            </a: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pic>
        <p:nvPicPr>
          <p:cNvPr id="9" name="Picture 8" descr="ot2"/>
          <p:cNvPicPr>
            <a:picLocks noChangeAspect="1"/>
          </p:cNvPicPr>
          <p:nvPr/>
        </p:nvPicPr>
        <p:blipFill>
          <a:blip r:embed="rId1"/>
          <a:stretch>
            <a:fillRect/>
          </a:stretch>
        </p:blipFill>
        <p:spPr>
          <a:xfrm>
            <a:off x="272415" y="3555365"/>
            <a:ext cx="5351780" cy="2599055"/>
          </a:xfrm>
          <a:prstGeom prst="rect">
            <a:avLst/>
          </a:prstGeom>
        </p:spPr>
      </p:pic>
      <p:pic>
        <p:nvPicPr>
          <p:cNvPr id="10" name="Picture 9" descr="ot1"/>
          <p:cNvPicPr>
            <a:picLocks noChangeAspect="1"/>
          </p:cNvPicPr>
          <p:nvPr/>
        </p:nvPicPr>
        <p:blipFill>
          <a:blip r:embed="rId2"/>
          <a:stretch>
            <a:fillRect/>
          </a:stretch>
        </p:blipFill>
        <p:spPr>
          <a:xfrm>
            <a:off x="5838825" y="3542030"/>
            <a:ext cx="5641340" cy="27063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Output :</a:t>
            </a:r>
            <a:endParaRPr lang="en-IN" altLang="en-US"/>
          </a:p>
        </p:txBody>
      </p:sp>
      <p:sp>
        <p:nvSpPr>
          <p:cNvPr id="3" name="Text Placeholder 2"/>
          <p:cNvSpPr>
            <a:spLocks noGrp="1"/>
          </p:cNvSpPr>
          <p:nvPr>
            <p:ph type="body" idx="1"/>
          </p:nvPr>
        </p:nvSpPr>
        <p:spPr/>
        <p:txBody>
          <a:bodyPr/>
          <a:p>
            <a:endParaRPr lang="en-US"/>
          </a:p>
        </p:txBody>
      </p:sp>
      <p:pic>
        <p:nvPicPr>
          <p:cNvPr id="4" name="Picture 3" descr="ot3"/>
          <p:cNvPicPr>
            <a:picLocks noChangeAspect="1"/>
          </p:cNvPicPr>
          <p:nvPr/>
        </p:nvPicPr>
        <p:blipFill>
          <a:blip r:embed="rId1"/>
          <a:stretch>
            <a:fillRect/>
          </a:stretch>
        </p:blipFill>
        <p:spPr>
          <a:xfrm>
            <a:off x="6076315" y="998220"/>
            <a:ext cx="5404485" cy="2637790"/>
          </a:xfrm>
          <a:prstGeom prst="rect">
            <a:avLst/>
          </a:prstGeom>
        </p:spPr>
      </p:pic>
      <p:pic>
        <p:nvPicPr>
          <p:cNvPr id="5" name="Picture 4" descr="ot4"/>
          <p:cNvPicPr>
            <a:picLocks noChangeAspect="1"/>
          </p:cNvPicPr>
          <p:nvPr/>
        </p:nvPicPr>
        <p:blipFill>
          <a:blip r:embed="rId2"/>
          <a:stretch>
            <a:fillRect/>
          </a:stretch>
        </p:blipFill>
        <p:spPr>
          <a:xfrm>
            <a:off x="812800" y="1085215"/>
            <a:ext cx="5078730" cy="24631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endParaRPr lang="en-IN" dirty="0">
              <a:latin typeface="Cambria" panose="02040503050406030204" pitchFamily="18" charset="0"/>
              <a:ea typeface="Cambria" panose="02040503050406030204" pitchFamily="18" charset="0"/>
            </a:endParaRPr>
          </a:p>
        </p:txBody>
      </p:sp>
      <p:pic>
        <p:nvPicPr>
          <p:cNvPr id="4" name="Picture 3" descr="gantt"/>
          <p:cNvPicPr>
            <a:picLocks noChangeAspect="1"/>
          </p:cNvPicPr>
          <p:nvPr/>
        </p:nvPicPr>
        <p:blipFill>
          <a:blip r:embed="rId1"/>
          <a:stretch>
            <a:fillRect/>
          </a:stretch>
        </p:blipFill>
        <p:spPr>
          <a:xfrm>
            <a:off x="1362710" y="1143000"/>
            <a:ext cx="10118090" cy="4953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a:t>
            </a:r>
            <a:r>
              <a:rPr lang="en-GB" dirty="0" smtClean="0">
                <a:latin typeface="Cambria" panose="02040503050406030204" pitchFamily="18" charset="0"/>
                <a:ea typeface="Cambria" panose="02040503050406030204" pitchFamily="18" charset="0"/>
              </a:rPr>
              <a:t>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009650"/>
            <a:ext cx="10668000" cy="5086350"/>
          </a:xfrm>
          <a:prstGeom prst="rect">
            <a:avLst/>
          </a:prstGeom>
          <a:noFill/>
          <a:ln>
            <a:noFill/>
          </a:ln>
        </p:spPr>
        <p:txBody>
          <a:bodyPr spcFirstLastPara="1" wrap="square" lIns="91425" tIns="45700" rIns="91425" bIns="45700" anchor="t" anchorCtr="0">
            <a:normAutofit fontScale="40000"/>
          </a:bodyPr>
          <a:lstStyle/>
          <a:p>
            <a:pPr marL="152400" indent="0">
              <a:spcBef>
                <a:spcPts val="0"/>
              </a:spcBef>
              <a:buNone/>
            </a:pPr>
            <a:endParaRPr lang="en-US" dirty="0" smtClean="0">
              <a:latin typeface="Cambria" panose="02040503050406030204" pitchFamily="18" charset="0"/>
              <a:ea typeface="Cambria" panose="02040503050406030204" pitchFamily="18" charset="0"/>
            </a:endParaRPr>
          </a:p>
          <a:p>
            <a:pPr marL="609600" lvl="1" indent="0">
              <a:spcBef>
                <a:spcPts val="0"/>
              </a:spcBef>
              <a:buNone/>
            </a:pPr>
            <a:r>
              <a:rPr lang="en-US" altLang="en-US" sz="3430" dirty="0" smtClean="0"/>
              <a:t>[1] </a:t>
            </a:r>
            <a:r>
              <a:rPr lang="en-US" altLang="en-US" sz="3430" b="1" dirty="0" smtClean="0"/>
              <a:t>D. Petrov</a:t>
            </a:r>
            <a:r>
              <a:rPr lang="en-IN" altLang="en-US" sz="3430" b="1" dirty="0" smtClean="0"/>
              <a:t>[SEO]</a:t>
            </a:r>
            <a:r>
              <a:rPr lang="en-US" altLang="en-US" sz="3430" dirty="0" smtClean="0"/>
              <a:t>, “Evolving SEO for 2025: What needs to change,” Search Engine Land, Jan. 17, 2025. </a:t>
            </a:r>
            <a:r>
              <a:rPr lang="en-US" altLang="en-US" sz="3430" dirty="0" smtClean="0">
                <a:hlinkClick r:id="rId1" action="ppaction://hlinkfile"/>
              </a:rPr>
              <a:t>https://searchengineland.com/evolving-seo-for-2025-what-needs-to-change-450911</a:t>
            </a:r>
            <a:endParaRPr lang="en-US" altLang="en-US" sz="3430" dirty="0" smtClean="0"/>
          </a:p>
          <a:p>
            <a:pPr marL="609600" lvl="1" indent="0">
              <a:spcBef>
                <a:spcPts val="0"/>
              </a:spcBef>
              <a:buNone/>
            </a:pPr>
            <a:endParaRPr lang="en-US" altLang="en-US" sz="3430" dirty="0" smtClean="0"/>
          </a:p>
          <a:p>
            <a:pPr marL="609600" lvl="1" indent="0">
              <a:spcBef>
                <a:spcPts val="0"/>
              </a:spcBef>
              <a:buNone/>
            </a:pPr>
            <a:r>
              <a:rPr lang="en-US" sz="3430" dirty="0" smtClean="0"/>
              <a:t>[2].</a:t>
            </a:r>
            <a:r>
              <a:rPr lang="en-IN" altLang="en-US" sz="3430" dirty="0" smtClean="0"/>
              <a:t> </a:t>
            </a:r>
            <a:r>
              <a:rPr lang="en-US" altLang="en-US" sz="3430" b="1" dirty="0">
                <a:latin typeface="Verdana" panose="020B0604030504040204" charset="0"/>
                <a:ea typeface="Cambria" panose="02040503050406030204" pitchFamily="18" charset="0"/>
                <a:cs typeface="Verdana" panose="020B0604030504040204" charset="0"/>
              </a:rPr>
              <a:t>Semrush</a:t>
            </a:r>
            <a:r>
              <a:rPr lang="en-US" altLang="en-US" sz="3430" dirty="0">
                <a:latin typeface="Verdana" panose="020B0604030504040204" charset="0"/>
                <a:ea typeface="Cambria" panose="02040503050406030204" pitchFamily="18" charset="0"/>
                <a:cs typeface="Verdana" panose="020B0604030504040204" charset="0"/>
              </a:rPr>
              <a:t>, “Data-Driven Marketing Tools to Grow Your Business,” Semrush.com.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2" action="ppaction://hlinkfile"/>
              </a:rPr>
              <a:t>https://www.semrush.com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Cambria" panose="02040503050406030204" pitchFamily="18" charset="0"/>
              <a:ea typeface="Cambria" panose="02040503050406030204" pitchFamily="18"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[3]. </a:t>
            </a:r>
            <a:r>
              <a:rPr lang="en-US" altLang="en-US" sz="3430" b="1" dirty="0">
                <a:latin typeface="Verdana" panose="020B0604030504040204" charset="0"/>
                <a:ea typeface="Cambria" panose="02040503050406030204" pitchFamily="18" charset="0"/>
                <a:cs typeface="Verdana" panose="020B0604030504040204" charset="0"/>
              </a:rPr>
              <a:t>TechTarget</a:t>
            </a:r>
            <a:r>
              <a:rPr lang="en-US" altLang="en-US" sz="3430" dirty="0">
                <a:latin typeface="Verdana" panose="020B0604030504040204" charset="0"/>
                <a:ea typeface="Cambria" panose="02040503050406030204" pitchFamily="18" charset="0"/>
                <a:cs typeface="Verdana" panose="020B0604030504040204" charset="0"/>
              </a:rPr>
              <a:t>, “Google Analytics,” SearchBusinessAnalytics</a:t>
            </a:r>
            <a:r>
              <a:rPr lang="en-IN" altLang="en-US" sz="3430" dirty="0">
                <a:latin typeface="Verdana" panose="020B0604030504040204" charset="0"/>
                <a:ea typeface="Cambria" panose="02040503050406030204" pitchFamily="18" charset="0"/>
                <a:cs typeface="Verdana" panose="020B0604030504040204" charset="0"/>
              </a:rPr>
              <a:t>.</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3" action="ppaction://hlinkfile"/>
              </a:rPr>
              <a:t>https://www.techtarget.com/searchbusinessanalytics/definition/Google-Analytics</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[4]. </a:t>
            </a:r>
            <a:r>
              <a:rPr lang="en-US" altLang="en-US" sz="3430" b="1" dirty="0">
                <a:latin typeface="Verdana" panose="020B0604030504040204" charset="0"/>
                <a:ea typeface="Cambria" panose="02040503050406030204" pitchFamily="18" charset="0"/>
                <a:cs typeface="Verdana" panose="020B0604030504040204" charset="0"/>
              </a:rPr>
              <a:t>Mailchimp</a:t>
            </a:r>
            <a:r>
              <a:rPr lang="en-US" altLang="en-US" sz="3430" dirty="0">
                <a:latin typeface="Verdana" panose="020B0604030504040204" charset="0"/>
                <a:ea typeface="Cambria" panose="02040503050406030204" pitchFamily="18" charset="0"/>
                <a:cs typeface="Verdana" panose="020B0604030504040204" charset="0"/>
              </a:rPr>
              <a:t>, “Marketing, Automation &amp; Email Platform,” Mailchimp.com.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4" action="ppaction://hlinkfile"/>
              </a:rPr>
              <a:t>https://mailchimp.com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[5]. </a:t>
            </a:r>
            <a:r>
              <a:rPr lang="en-IN" altLang="en-US" sz="3430" b="1" dirty="0">
                <a:latin typeface="Verdana" panose="020B0604030504040204" charset="0"/>
                <a:ea typeface="Cambria" panose="02040503050406030204" pitchFamily="18" charset="0"/>
                <a:cs typeface="Verdana" panose="020B0604030504040204" charset="0"/>
              </a:rPr>
              <a:t>ChatGPT</a:t>
            </a: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[6]. </a:t>
            </a:r>
            <a:r>
              <a:rPr lang="en-IN" altLang="en-US" sz="3430" b="1" dirty="0">
                <a:latin typeface="Verdana" panose="020B0604030504040204" charset="0"/>
                <a:ea typeface="Cambria" panose="02040503050406030204" pitchFamily="18" charset="0"/>
                <a:cs typeface="Verdana" panose="020B0604030504040204" charset="0"/>
              </a:rPr>
              <a:t>Canva</a:t>
            </a: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[7]. </a:t>
            </a:r>
            <a:r>
              <a:rPr lang="en-US" altLang="en-US" sz="3430" b="1" dirty="0">
                <a:latin typeface="Verdana" panose="020B0604030504040204" charset="0"/>
                <a:ea typeface="Cambria" panose="02040503050406030204" pitchFamily="18" charset="0"/>
                <a:cs typeface="Verdana" panose="020B0604030504040204" charset="0"/>
              </a:rPr>
              <a:t>Ministry of Information and Broadcasting</a:t>
            </a:r>
            <a:r>
              <a:rPr lang="en-US" altLang="en-US" sz="3430" dirty="0">
                <a:latin typeface="Verdana" panose="020B0604030504040204" charset="0"/>
                <a:ea typeface="Cambria" panose="02040503050406030204" pitchFamily="18" charset="0"/>
                <a:cs typeface="Verdana" panose="020B0604030504040204" charset="0"/>
              </a:rPr>
              <a:t>, “Directorate of Publication Division (DPD),” mib.gov.in. </a:t>
            </a:r>
            <a:r>
              <a:rPr lang="en-US" altLang="en-US" sz="3430" dirty="0">
                <a:latin typeface="Verdana" panose="020B0604030504040204" charset="0"/>
                <a:ea typeface="Cambria" panose="02040503050406030204" pitchFamily="18" charset="0"/>
                <a:cs typeface="Verdana" panose="020B0604030504040204" charset="0"/>
                <a:hlinkClick r:id="rId5" action="ppaction://hlinkfile"/>
              </a:rPr>
              <a:t>https://mib.gov.in/ministry/organizations/publication-division</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[8]. </a:t>
            </a:r>
            <a:r>
              <a:rPr lang="en-US" altLang="en-US" sz="3430" b="1" dirty="0">
                <a:latin typeface="Verdana" panose="020B0604030504040204" charset="0"/>
                <a:ea typeface="Cambria" panose="02040503050406030204" pitchFamily="18" charset="0"/>
                <a:cs typeface="Verdana" panose="020B0604030504040204" charset="0"/>
              </a:rPr>
              <a:t>National Payments Corporation of India</a:t>
            </a:r>
            <a:r>
              <a:rPr lang="en-US" altLang="en-US" sz="3430" dirty="0">
                <a:latin typeface="Verdana" panose="020B0604030504040204" charset="0"/>
                <a:ea typeface="Cambria" panose="02040503050406030204" pitchFamily="18" charset="0"/>
                <a:cs typeface="Verdana" panose="020B0604030504040204" charset="0"/>
              </a:rPr>
              <a:t>, “Enabling Digital Payments in India,” npci.org.in.  </a:t>
            </a:r>
            <a:r>
              <a:rPr lang="en-US" altLang="en-US" sz="3430" dirty="0">
                <a:latin typeface="Verdana" panose="020B0604030504040204" charset="0"/>
                <a:ea typeface="Cambria" panose="02040503050406030204" pitchFamily="18" charset="0"/>
                <a:cs typeface="Verdana" panose="020B0604030504040204" charset="0"/>
                <a:hlinkClick r:id="rId6" action="ppaction://hlinkfile"/>
              </a:rPr>
              <a:t>https://www.npci.org.in</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dirty="0">
              <a:latin typeface="Verdana" panose="020B0604030504040204" charset="0"/>
              <a:ea typeface="Cambria" panose="02040503050406030204" pitchFamily="18" charset="0"/>
              <a:cs typeface="Verdana" panose="020B0604030504040204" charset="0"/>
            </a:endParaRPr>
          </a:p>
          <a:p>
            <a:pPr marL="152400" indent="0">
              <a:spcBef>
                <a:spcPts val="0"/>
              </a:spcBef>
              <a:buNone/>
            </a:pPr>
            <a:endParaRPr lang="en-US" dirty="0" smtClean="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426*142"/>
  <p:tag name="TABLE_ENDDRAG_RECT" val="53*238*426*142"/>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10483</Words>
  <Application>WPS Presentation</Application>
  <PresentationFormat>Widescreen</PresentationFormat>
  <Paragraphs>288</Paragraphs>
  <Slides>22</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SimSun</vt:lpstr>
      <vt:lpstr>Wingdings</vt:lpstr>
      <vt:lpstr>Arial</vt:lpstr>
      <vt:lpstr>Verdana</vt:lpstr>
      <vt:lpstr>Bookman Old Style</vt:lpstr>
      <vt:lpstr>Cambria</vt:lpstr>
      <vt:lpstr>Verdana</vt:lpstr>
      <vt:lpstr>Microsoft YaHei</vt:lpstr>
      <vt:lpstr>Arial Unicode MS</vt:lpstr>
      <vt:lpstr>Bioinformatics</vt:lpstr>
      <vt:lpstr>A complete digital marketing solution for a visible increase in online sale of DPD journals and Employment News issues through various available/new online sale channels (like website, apps , amazon, social media) by optimising various available or new digital marketing tools like email marketing, SEO.</vt:lpstr>
      <vt:lpstr>Problem Statement Number </vt:lpstr>
      <vt:lpstr>Content </vt:lpstr>
      <vt:lpstr>PowerPoint 演示文稿</vt:lpstr>
      <vt:lpstr>Abstract</vt:lpstr>
      <vt:lpstr>Literature Survey</vt:lpstr>
      <vt:lpstr>Literature Survey</vt:lpstr>
      <vt:lpstr>Literature Survey</vt:lpstr>
      <vt:lpstr>Objectives</vt:lpstr>
      <vt:lpstr>Existing Methods &amp; Drawbacks</vt:lpstr>
      <vt:lpstr>Existing Methods &amp; Drawbacks</vt:lpstr>
      <vt:lpstr>Proposed Method &amp; Feasibility Study</vt:lpstr>
      <vt:lpstr>PowerPoint 演示文稿</vt:lpstr>
      <vt:lpstr>PowerPoint 演示文稿</vt:lpstr>
      <vt:lpstr>Architectural Diagram</vt:lpstr>
      <vt:lpstr>Modules</vt:lpstr>
      <vt:lpstr>Hardware &amp; Software Details</vt:lpstr>
      <vt:lpstr>Github Link</vt:lpstr>
      <vt:lpstr>PowerPoint 演示文稿</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ganes</cp:lastModifiedBy>
  <cp:revision>57</cp:revision>
  <dcterms:created xsi:type="dcterms:W3CDTF">2025-08-09T12:05:00Z</dcterms:created>
  <dcterms:modified xsi:type="dcterms:W3CDTF">2025-09-26T10:03:34Z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799E697D722A46808673583D039C5EC4_12</vt:lpwstr>
  </property>
  <property fmtid="{D5CDD505-2E9C-101B-9397-08002B2CF9AE}" pid="3" name="KSOProductBuildVer">
    <vt:lpwstr>1033-12.2.0.21931</vt:lpwstr>
  </property>
</Properties>
</file>
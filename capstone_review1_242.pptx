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74" r:id="rId6"/>
    <p:sldId id="276" r:id="rId7"/>
    <p:sldId id="282" r:id="rId8"/>
    <p:sldId id="283" r:id="rId9"/>
    <p:sldId id="284" r:id="rId10"/>
    <p:sldId id="275" r:id="rId11"/>
    <p:sldId id="273" r:id="rId12"/>
    <p:sldId id="277" r:id="rId13"/>
    <p:sldId id="278" r:id="rId14"/>
    <p:sldId id="279" r:id="rId15"/>
    <p:sldId id="280" r:id="rId16"/>
    <p:sldId id="281" r:id="rId17"/>
    <p:sldId id="268" r:id="rId18"/>
    <p:sldId id="270" r:id="rId19"/>
    <p:sldId id="265"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hyperlink" Target="https://github.com/revadithya/dpdjourns.git"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hyperlink" Target="https://www.npci.org.in" TargetMode="External"/><Relationship Id="rId5" Type="http://schemas.openxmlformats.org/officeDocument/2006/relationships/hyperlink" Target="https://mib.gov.in/ministry/organizations/publication-division" TargetMode="External"/><Relationship Id="rId4" Type="http://schemas.openxmlformats.org/officeDocument/2006/relationships/hyperlink" Target="https://mailchimp.com" TargetMode="External"/><Relationship Id="rId3" Type="http://schemas.openxmlformats.org/officeDocument/2006/relationships/hyperlink" Target="https://www.techtarget.com/searchbusinessanalytics/definition/Google-Analytics" TargetMode="External"/><Relationship Id="rId2" Type="http://schemas.openxmlformats.org/officeDocument/2006/relationships/hyperlink" Target="https://www.semrush.com" TargetMode="External"/><Relationship Id="rId1" Type="http://schemas.openxmlformats.org/officeDocument/2006/relationships/hyperlink" Target="https://searchengineland.com/evolving-seo-for-2025-what-needs-to-change-450911"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575" y="1026795"/>
            <a:ext cx="10363200" cy="15087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US" sz="2250" dirty="0">
                <a:solidFill>
                  <a:schemeClr val="tx1"/>
                </a:solidFill>
                <a:latin typeface="Cambria" panose="02040503050406030204" pitchFamily="18" charset="0"/>
                <a:ea typeface="Cambria" panose="02040503050406030204" pitchFamily="18" charset="0"/>
              </a:rPr>
              <a:t>A complete digital marketing solution for a visible increase in o</a:t>
            </a:r>
            <a:r>
              <a:rPr lang="en-US" altLang="en-US" sz="2250" dirty="0">
                <a:solidFill>
                  <a:schemeClr val="tx1"/>
                </a:solidFill>
                <a:latin typeface="Cambria" panose="02040503050406030204" pitchFamily="18" charset="0"/>
                <a:ea typeface="Cambria" panose="02040503050406030204" pitchFamily="18" charset="0"/>
              </a:rPr>
              <a:t>nline sale of DPD journals and Employment News issues through various available/new online sale</a:t>
            </a:r>
            <a:r>
              <a:rPr lang="en-IN" altLang="en-US" sz="2250" dirty="0">
                <a:solidFill>
                  <a:schemeClr val="tx1"/>
                </a:solidFill>
                <a:latin typeface="Cambria" panose="02040503050406030204" pitchFamily="18" charset="0"/>
                <a:ea typeface="Cambria" panose="02040503050406030204" pitchFamily="18" charset="0"/>
              </a:rPr>
              <a:t> </a:t>
            </a:r>
            <a:r>
              <a:rPr lang="en-US" altLang="en-US" sz="2250" dirty="0">
                <a:solidFill>
                  <a:schemeClr val="tx1"/>
                </a:solidFill>
                <a:latin typeface="Cambria" panose="02040503050406030204" pitchFamily="18" charset="0"/>
                <a:ea typeface="Cambria" panose="02040503050406030204" pitchFamily="18" charset="0"/>
              </a:rPr>
              <a:t>channels (like website, apps , amazon, social media) by optimising various available or new digital marketing tools like email marketing, SEO</a:t>
            </a:r>
            <a:r>
              <a:rPr lang="en-IN" altLang="en-US" sz="2250" dirty="0">
                <a:solidFill>
                  <a:schemeClr val="tx1"/>
                </a:solidFill>
                <a:latin typeface="Cambria" panose="02040503050406030204" pitchFamily="18" charset="0"/>
                <a:ea typeface="Cambria" panose="02040503050406030204" pitchFamily="18" charset="0"/>
              </a:rPr>
              <a:t>.</a:t>
            </a:r>
            <a:endParaRPr lang="en-IN" altLang="en-US" sz="225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575" y="2612390"/>
            <a:ext cx="4391025" cy="4178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a:t>
            </a:r>
            <a:r>
              <a:rPr lang="en-GB" sz="1800" dirty="0" smtClean="0">
                <a:latin typeface="Cambria" panose="02040503050406030204" pitchFamily="18" charset="0"/>
                <a:ea typeface="Cambria" panose="02040503050406030204" pitchFamily="18" charset="0"/>
              </a:rPr>
              <a:t>:</a:t>
            </a:r>
            <a:r>
              <a:rPr lang="en-IN" altLang="en-GB" sz="1800" dirty="0" smtClean="0">
                <a:latin typeface="Cambria" panose="02040503050406030204" pitchFamily="18" charset="0"/>
                <a:ea typeface="Cambria" panose="02040503050406030204" pitchFamily="18" charset="0"/>
              </a:rPr>
              <a:t> CSE-242</a:t>
            </a:r>
            <a:endParaRPr lang="en-IN" altLang="en-GB" sz="1800" dirty="0" smtClean="0">
              <a:latin typeface="Cambria" panose="02040503050406030204" pitchFamily="18" charset="0"/>
              <a:ea typeface="Cambria" panose="02040503050406030204" pitchFamily="18" charset="0"/>
            </a:endParaRPr>
          </a:p>
        </p:txBody>
      </p:sp>
      <p:sp>
        <p:nvSpPr>
          <p:cNvPr id="90" name="Google Shape;90;p13"/>
          <p:cNvSpPr txBox="1"/>
          <p:nvPr/>
        </p:nvSpPr>
        <p:spPr>
          <a:xfrm>
            <a:off x="6480175" y="2721610"/>
            <a:ext cx="5514340" cy="183261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457200" marR="0" lvl="1" indent="457200" algn="ctr"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ChandraSekhar M</a:t>
            </a:r>
            <a:endPar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Associate Professor</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custDataLst>
              <p:tags r:id="rId1"/>
            </p:custDataLst>
          </p:nvPr>
        </p:nvGraphicFramePr>
        <p:xfrm>
          <a:off x="677545" y="3030220"/>
          <a:ext cx="5418455" cy="2194560"/>
        </p:xfrm>
        <a:graphic>
          <a:graphicData uri="http://schemas.openxmlformats.org/drawingml/2006/table">
            <a:tbl>
              <a:tblPr firstRow="1" bandRow="1">
                <a:noFill/>
                <a:tableStyleId>{57690726-49DA-4552-BDEB-330DD8EA8BD9}</a:tableStyleId>
              </a:tblPr>
              <a:tblGrid>
                <a:gridCol w="2084705"/>
                <a:gridCol w="3333750"/>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Font typeface="+mj-lt"/>
                        <a:buNone/>
                      </a:pPr>
                      <a:r>
                        <a:rPr lang="en-IN" sz="1800" u="none" strike="noStrike" cap="none" dirty="0"/>
                        <a:t>20221CSE0268</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PIRUTHVIRAJ S</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20221CSE0270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RAFAEL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20221CSE0260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REVANTH ADITHYA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84314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668000" cy="4615815"/>
          </a:xfrm>
          <a:prstGeom prst="rect">
            <a:avLst/>
          </a:prstGeom>
          <a:noFill/>
          <a:ln>
            <a:noFill/>
          </a:ln>
        </p:spPr>
        <p:txBody>
          <a:bodyPr spcFirstLastPara="1" wrap="square" lIns="91425" tIns="45700" rIns="91425" bIns="45700" anchor="t" anchorCtr="0">
            <a:normAutofit fontScale="90000"/>
          </a:bodyPr>
          <a:lstStyle/>
          <a:p>
            <a:pPr marL="342900" lvl="0" indent="-190500" algn="just">
              <a:spcBef>
                <a:spcPts val="0"/>
              </a:spcBef>
              <a:buNone/>
            </a:pPr>
            <a:r>
              <a:rPr lang="en-US" b="1" dirty="0" smtClean="0">
                <a:latin typeface="Cambria" panose="02040503050406030204" pitchFamily="18" charset="0"/>
                <a:ea typeface="Cambria" panose="02040503050406030204" pitchFamily="18" charset="0"/>
              </a:rPr>
              <a:t>Organization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Ministry of</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Information and Broadcasting</a:t>
            </a: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b="1" dirty="0" smtClean="0">
                <a:latin typeface="Cambria" panose="02040503050406030204" pitchFamily="18" charset="0"/>
                <a:ea typeface="Cambria" panose="02040503050406030204" pitchFamily="18" charset="0"/>
              </a:rPr>
              <a:t>(Hardware / Software / Both</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Software</a:t>
            </a:r>
            <a:endParaRPr 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solidFill>
                  <a:schemeClr val="tx1">
                    <a:lumMod val="95000"/>
                    <a:lumOff val="5000"/>
                  </a:schemeClr>
                </a:solidFill>
                <a:latin typeface="Cambria" panose="02040503050406030204" pitchFamily="18" charset="0"/>
                <a:ea typeface="Cambria" panose="02040503050406030204" pitchFamily="18" charset="0"/>
              </a:rPr>
              <a:t>Problem </a:t>
            </a:r>
            <a:r>
              <a:rPr lang="en-US" b="1" dirty="0" smtClean="0">
                <a:solidFill>
                  <a:schemeClr val="tx1">
                    <a:lumMod val="95000"/>
                    <a:lumOff val="5000"/>
                  </a:schemeClr>
                </a:solidFill>
                <a:latin typeface="Cambria" panose="02040503050406030204" pitchFamily="18" charset="0"/>
                <a:ea typeface="Cambria" panose="02040503050406030204" pitchFamily="18" charset="0"/>
              </a:rPr>
              <a:t>Description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A powerful, all-in-one digital marketing solution to drive visible growth in online sales through our website, mobile app, Amazon, and social media. Using smart SEO, engaging email campaigns, and targeted online ads, we ensure</a:t>
            </a:r>
            <a:r>
              <a:rPr lang="en-IN" altLang="en-US" dirty="0" smtClean="0">
                <a:latin typeface="Cambria" panose="02040503050406030204" pitchFamily="18" charset="0"/>
                <a:ea typeface="Cambria" panose="02040503050406030204" pitchFamily="18" charset="0"/>
              </a:rPr>
              <a:t> will be able to</a:t>
            </a:r>
            <a:r>
              <a:rPr lang="en-US" altLang="en-US" dirty="0" smtClean="0">
                <a:latin typeface="Cambria" panose="02040503050406030204" pitchFamily="18" charset="0"/>
                <a:ea typeface="Cambria" panose="02040503050406030204" pitchFamily="18" charset="0"/>
              </a:rPr>
              <a:t> your publications reach the right audience at the right time—turning visibility into sales.</a:t>
            </a:r>
            <a:endParaRPr lang="en-US" altLang="en-US" b="1"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Content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935990"/>
            <a:ext cx="10668000" cy="5345430"/>
          </a:xfrm>
          <a:prstGeom prst="rect">
            <a:avLst/>
          </a:prstGeom>
          <a:noFill/>
          <a:ln>
            <a:noFill/>
          </a:ln>
        </p:spPr>
        <p:txBody>
          <a:bodyPr spcFirstLastPara="1" wrap="square" lIns="91425" tIns="45700" rIns="91425" bIns="45700" anchor="t" anchorCtr="0">
            <a:normAutofit fontScale="70000"/>
          </a:bodyPr>
          <a:lstStyle/>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Abstract</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Literature Survey</a:t>
            </a:r>
            <a:endParaRPr lang="en-US" dirty="0" smtClean="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Objectives</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Existing Methods and Drawbacks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Proposed Method and Feasibility Study</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Architecture Diagram</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Modules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Hardware and Software Details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Timeline (GANTT CHART)</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References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Font typeface="Wingdings" panose="05000000000000000000" pitchFamily="2" charset="2"/>
              <a:buNone/>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Abstract</a:t>
            </a:r>
            <a:endParaRPr lang="en-IN" altLang="en-US"/>
          </a:p>
        </p:txBody>
      </p:sp>
      <p:sp>
        <p:nvSpPr>
          <p:cNvPr id="3" name="Text Placeholder 2"/>
          <p:cNvSpPr>
            <a:spLocks noGrp="1"/>
          </p:cNvSpPr>
          <p:nvPr>
            <p:ph type="body" idx="1"/>
          </p:nvPr>
        </p:nvSpPr>
        <p:spPr/>
        <p:txBody>
          <a:bodyPr>
            <a:normAutofit lnSpcReduction="10000"/>
          </a:bodyPr>
          <a:p>
            <a:pPr marL="76200" indent="0">
              <a:buNone/>
            </a:pPr>
            <a:r>
              <a:rPr lang="en-US" altLang="en-US"/>
              <a:t>This study proposes a complete digital marketing solution aimed at enhancing the online sales of DPD journals and Employment News issues through multi-channel strategies. The approach integrates website and mobile app optimization, marketplace presence (Amazon, Flipkart), and the use of advanced digital marketing tools such as SEO, email marketing, social media campaigns, influencer tie-ups, and paid advertisements. By leveraging targeted communication and personalized engagement, the solution focuses on reaching students, job seekers, and career aspirants while ensuring a seamless subscription experience. Performance tracking through analytics tools ensures continuous improvement and measurable growth. The expected outcome is a visible increase in subscriptions, improved brand reach, and long-term audience retention.</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a:xfrm>
            <a:off x="812800" y="1066800"/>
            <a:ext cx="10668000" cy="5105400"/>
          </a:xfrm>
        </p:spPr>
        <p:txBody>
          <a:bodyPr>
            <a:normAutofit fontScale="90000" lnSpcReduction="20000"/>
          </a:bodyPr>
          <a:p>
            <a:pPr marL="76200" indent="0">
              <a:buNone/>
            </a:pPr>
            <a:r>
              <a:rPr lang="en-US" altLang="en-US"/>
              <a:t>[1]</a:t>
            </a:r>
            <a:r>
              <a:rPr lang="en-US" altLang="en-US" b="1"/>
              <a:t> M. Cioppi et al., “Digital transformation and marketing: a systematic and thematic literature review,” 2023</a:t>
            </a:r>
            <a:r>
              <a:rPr lang="en-IN" altLang="en-US"/>
              <a:t> - </a:t>
            </a:r>
            <a:r>
              <a:rPr lang="en-US" altLang="en-US"/>
              <a:t>Reviews literature on how digital technologies reshape marketing strategies, identifying themes like customer engagement, analytics, and organizational change.</a:t>
            </a:r>
            <a:endParaRPr lang="en-US" altLang="en-US"/>
          </a:p>
          <a:p>
            <a:pPr marL="76200" indent="0">
              <a:buNone/>
            </a:pPr>
            <a:r>
              <a:rPr lang="en-US" altLang="en-US"/>
              <a:t>[2]</a:t>
            </a:r>
            <a:r>
              <a:rPr lang="en-US" altLang="en-US" b="1"/>
              <a:t> U. F. Ahmad et al., “SEO strategy as determinants for online brand positioning,” 2024</a:t>
            </a:r>
            <a:r>
              <a:rPr lang="en-IN" altLang="en-US"/>
              <a:t> - </a:t>
            </a:r>
            <a:r>
              <a:rPr lang="en-US" altLang="en-US"/>
              <a:t>Explores SEO as a determinant of brand positioning and visibility; shows how keyword and ranking strategies impact perception.</a:t>
            </a:r>
            <a:endParaRPr lang="en-US" altLang="en-US"/>
          </a:p>
          <a:p>
            <a:pPr marL="76200" indent="0">
              <a:buNone/>
            </a:pPr>
            <a:r>
              <a:rPr lang="en-US" altLang="en-US"/>
              <a:t>[3] </a:t>
            </a:r>
            <a:r>
              <a:rPr lang="en-US" altLang="en-US" b="1"/>
              <a:t>J. Wang, “Impact of social media influencers’ relatability on purchase intention,” 2025</a:t>
            </a:r>
            <a:r>
              <a:rPr lang="en-IN" altLang="en-US" b="1"/>
              <a:t> - </a:t>
            </a:r>
            <a:r>
              <a:rPr lang="en-US" altLang="en-US"/>
              <a:t>Empirical study showing that influencer relatability (trust, authenticity) significantly affects consumer purchase decisions.</a:t>
            </a:r>
            <a:endParaRPr lang="en-US" altLang="en-US"/>
          </a:p>
          <a:p>
            <a:pPr marL="76200" indent="0">
              <a:buNone/>
            </a:pPr>
            <a:r>
              <a:rPr lang="en-US" altLang="en-US"/>
              <a:t>[4]</a:t>
            </a:r>
            <a:r>
              <a:rPr lang="en-US" altLang="en-US" b="1"/>
              <a:t> T. T. S. Tran and N. T. T. Le, “Digital marketing in community-based enterprises: A systematic review,” 2024</a:t>
            </a:r>
            <a:r>
              <a:rPr lang="en-IN" altLang="en-US" b="1"/>
              <a:t> </a:t>
            </a:r>
            <a:r>
              <a:rPr lang="en-IN" altLang="en-US"/>
              <a:t>- </a:t>
            </a:r>
            <a:r>
              <a:rPr lang="en-US" altLang="en-US"/>
              <a:t>Reviews digital marketing adoption in small/community enterprises, highlighting benefits and challenges.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p:txBody>
          <a:bodyPr>
            <a:normAutofit fontScale="90000" lnSpcReduction="10000"/>
          </a:bodyPr>
          <a:p>
            <a:pPr marL="76200" indent="0">
              <a:buNone/>
            </a:pPr>
            <a:r>
              <a:rPr lang="en-US" altLang="en-US"/>
              <a:t>[5] </a:t>
            </a:r>
            <a:r>
              <a:rPr lang="en-US" altLang="en-US" b="1"/>
              <a:t>R. A. Khan and S. Verma, “Systematic review on SEO and digital marketing strategies for SMEs,” 2024</a:t>
            </a:r>
            <a:r>
              <a:rPr lang="en-IN" altLang="en-US"/>
              <a:t> - </a:t>
            </a:r>
            <a:r>
              <a:rPr lang="en-US" altLang="en-US"/>
              <a:t>Summarizes SEO and digital tactics that improve SME competitiveness, focusing on customer reach</a:t>
            </a:r>
            <a:r>
              <a:rPr lang="en-IN" altLang="en-US"/>
              <a:t>.</a:t>
            </a:r>
            <a:endParaRPr lang="en-IN" altLang="en-US"/>
          </a:p>
          <a:p>
            <a:pPr marL="76200" indent="0">
              <a:buNone/>
            </a:pPr>
            <a:r>
              <a:rPr lang="en-US" altLang="en-US"/>
              <a:t>[6] </a:t>
            </a:r>
            <a:r>
              <a:rPr lang="en-US" altLang="en-US" b="1"/>
              <a:t>T. Yogananda, “Influence of email marketing on customer loyalty in Indian e-commerce,” 2024</a:t>
            </a:r>
            <a:r>
              <a:rPr lang="en-IN" altLang="en-US"/>
              <a:t> - </a:t>
            </a:r>
            <a:r>
              <a:rPr lang="en-US" altLang="en-US"/>
              <a:t>Case study on Indian e-commerce showing how targeted email marketing boosts customer loyalty and repeat purchases.</a:t>
            </a:r>
            <a:endParaRPr lang="en-US" altLang="en-US"/>
          </a:p>
          <a:p>
            <a:pPr marL="76200" indent="0">
              <a:buNone/>
            </a:pPr>
            <a:r>
              <a:rPr lang="en-US" altLang="en-US"/>
              <a:t>[7] </a:t>
            </a:r>
            <a:r>
              <a:rPr lang="en-US" altLang="en-US" b="1"/>
              <a:t>S. Sharma and P. Gupta, “Effectiveness of push notifications on user conversion and retention,” 2023</a:t>
            </a:r>
            <a:r>
              <a:rPr lang="en-IN" altLang="en-US" b="1"/>
              <a:t> - </a:t>
            </a:r>
            <a:r>
              <a:rPr lang="en-US" altLang="en-US"/>
              <a:t>Analyzes user behavior with push notifications; shows positive effects on conversion/retention if used moderately.</a:t>
            </a:r>
            <a:endParaRPr lang="en-US" altLang="en-US"/>
          </a:p>
          <a:p>
            <a:pPr marL="76200" indent="0">
              <a:buNone/>
            </a:pPr>
            <a:r>
              <a:rPr lang="en-US" altLang="en-US"/>
              <a:t>[8] </a:t>
            </a:r>
            <a:r>
              <a:rPr lang="en-US" altLang="en-US" b="1"/>
              <a:t>Airship, “How push notifications impact mobile app retention rates,” 2019</a:t>
            </a:r>
            <a:r>
              <a:rPr lang="en-US" altLang="en-US"/>
              <a:t> </a:t>
            </a:r>
            <a:r>
              <a:rPr lang="en-IN" altLang="en-US"/>
              <a:t>- </a:t>
            </a:r>
            <a:r>
              <a:rPr lang="en-US" altLang="en-US"/>
              <a:t>Industry report analyzing millions of app users, showing retention improvements with personalized push notifications.</a:t>
            </a:r>
            <a:endParaRPr lang="en-US" altLang="en-US"/>
          </a:p>
          <a:p>
            <a:pPr marL="76200" indent="0">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p:txBody>
          <a:bodyPr/>
          <a:p>
            <a:pPr marL="76200" indent="0">
              <a:buNone/>
            </a:pPr>
            <a:r>
              <a:rPr lang="en-US" altLang="en-US"/>
              <a:t>[9] </a:t>
            </a:r>
            <a:r>
              <a:rPr lang="en-US" altLang="en-US" b="1"/>
              <a:t>A. Erdmann and M. Ponzo, “SEO: The long-term strategy of organic keywords,” 2022</a:t>
            </a:r>
            <a:r>
              <a:rPr lang="en-IN" altLang="en-US"/>
              <a:t> - </a:t>
            </a:r>
            <a:r>
              <a:rPr lang="en-US" altLang="en-US"/>
              <a:t>Demonstrates SEO’s compounding benefits through long-term organic keyword strategies</a:t>
            </a:r>
            <a:r>
              <a:rPr lang="en-IN" altLang="en-US"/>
              <a:t>.</a:t>
            </a:r>
            <a:endParaRPr lang="en-IN" altLang="en-US"/>
          </a:p>
          <a:p>
            <a:pPr marL="76200" indent="0">
              <a:buNone/>
            </a:pPr>
            <a:r>
              <a:rPr lang="en-US" altLang="en-US"/>
              <a:t>[10] </a:t>
            </a:r>
            <a:r>
              <a:rPr lang="en-US" altLang="en-US" b="1"/>
              <a:t>G. A. Athaide and S. Moorman, “Marketing innovations and digital technologies,” 2025</a:t>
            </a:r>
            <a:r>
              <a:rPr lang="en-IN" altLang="en-US"/>
              <a:t> - </a:t>
            </a:r>
            <a:r>
              <a:rPr lang="en-US" altLang="en-US"/>
              <a:t>Conceptual review linking digital innovations with marketing practices, proposing future research agenda.</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Objectives</a:t>
            </a:r>
            <a:endParaRPr lang="en-IN" altLang="en-US"/>
          </a:p>
        </p:txBody>
      </p:sp>
      <p:sp>
        <p:nvSpPr>
          <p:cNvPr id="3" name="Text Placeholder 2"/>
          <p:cNvSpPr>
            <a:spLocks noGrp="1"/>
          </p:cNvSpPr>
          <p:nvPr>
            <p:ph type="body" idx="1"/>
          </p:nvPr>
        </p:nvSpPr>
        <p:spPr>
          <a:xfrm>
            <a:off x="812800" y="1085215"/>
            <a:ext cx="10668000" cy="5229860"/>
          </a:xfrm>
        </p:spPr>
        <p:txBody>
          <a:bodyPr>
            <a:normAutofit fontScale="60000"/>
          </a:bodyPr>
          <a:p>
            <a:r>
              <a:rPr lang="en-US" altLang="en-US" sz="3000" b="1"/>
              <a:t>Increase Online Sales</a:t>
            </a:r>
            <a:r>
              <a:rPr lang="en-IN" altLang="en-US"/>
              <a:t> : </a:t>
            </a:r>
            <a:r>
              <a:rPr lang="en-US" altLang="en-US" sz="2665"/>
              <a:t>Achieve a 30% growth in subscriptions for DPD journals and Employment News within the next 6 months through website, app,</a:t>
            </a:r>
            <a:r>
              <a:rPr lang="en-IN" altLang="en-US" sz="2665"/>
              <a:t> and marketplace channels.</a:t>
            </a:r>
            <a:endParaRPr lang="en-US" altLang="en-US" sz="2665"/>
          </a:p>
          <a:p>
            <a:endParaRPr lang="en-US" altLang="en-US"/>
          </a:p>
          <a:p>
            <a:r>
              <a:rPr lang="en-US" altLang="en-US" sz="3000" b="1"/>
              <a:t>Boost Digital Visibility</a:t>
            </a:r>
            <a:r>
              <a:rPr lang="en-IN" altLang="en-US" sz="3000"/>
              <a:t> </a:t>
            </a:r>
            <a:r>
              <a:rPr lang="en-IN" altLang="en-US"/>
              <a:t>:</a:t>
            </a:r>
            <a:r>
              <a:rPr lang="en-IN" altLang="en-US" sz="2665"/>
              <a:t> </a:t>
            </a:r>
            <a:r>
              <a:rPr lang="en-US" altLang="en-US" sz="2665"/>
              <a:t>Improve search engine ranking for at least 10 target keywords (e.g., Employment News online, government job updates) to appear on the first page of</a:t>
            </a:r>
            <a:r>
              <a:rPr lang="en-IN" altLang="en-US" sz="2665"/>
              <a:t> </a:t>
            </a:r>
            <a:r>
              <a:rPr lang="en-US" altLang="en-US" sz="2665"/>
              <a:t>Google within 4 months.</a:t>
            </a:r>
            <a:endParaRPr lang="en-US" altLang="en-US" sz="2665"/>
          </a:p>
          <a:p>
            <a:pPr marL="76200" indent="0">
              <a:buNone/>
            </a:pPr>
            <a:endParaRPr lang="en-US" altLang="en-US" sz="2665"/>
          </a:p>
          <a:p>
            <a:r>
              <a:rPr lang="en-US" altLang="en-US" sz="3000" b="1"/>
              <a:t>Expand Social Media Reach</a:t>
            </a:r>
            <a:r>
              <a:rPr lang="en-IN" altLang="en-US"/>
              <a:t> : </a:t>
            </a:r>
            <a:r>
              <a:rPr lang="en-US" altLang="en-US" sz="2665"/>
              <a:t>Grow combined social media followers by 40% and achieve an average engagement rate of 5% on posts within 6 months.</a:t>
            </a:r>
            <a:endParaRPr lang="en-US" altLang="en-US"/>
          </a:p>
          <a:p>
            <a:endParaRPr lang="en-US" altLang="en-US"/>
          </a:p>
          <a:p>
            <a:r>
              <a:rPr lang="en-US" altLang="en-US" sz="3000" b="1"/>
              <a:t>Enhance Customer Engagement</a:t>
            </a:r>
            <a:r>
              <a:rPr lang="en-IN" altLang="en-US"/>
              <a:t> :</a:t>
            </a:r>
            <a:r>
              <a:rPr lang="en-IN" altLang="en-US" sz="2665"/>
              <a:t> </a:t>
            </a:r>
            <a:r>
              <a:rPr lang="en-US" altLang="en-US" sz="2665"/>
              <a:t>Attain a 20% open rate and 5% click-through rate for targeted email campaigns within the first 3 months.</a:t>
            </a:r>
            <a:endParaRPr lang="en-US" altLang="en-US" sz="2665"/>
          </a:p>
          <a:p>
            <a:endParaRPr lang="en-US" altLang="en-US" sz="2665"/>
          </a:p>
          <a:p>
            <a:r>
              <a:rPr lang="en-US" altLang="en-US" sz="3000" b="1"/>
              <a:t>Strengthen Retention &amp; Renewals</a:t>
            </a:r>
            <a:r>
              <a:rPr lang="en-IN" altLang="en-US"/>
              <a:t> :</a:t>
            </a:r>
            <a:r>
              <a:rPr lang="en-IN" altLang="en-US" sz="2665"/>
              <a:t> </a:t>
            </a:r>
            <a:r>
              <a:rPr lang="en-US" altLang="en-US" sz="2665"/>
              <a:t>Increase subscription renewal rate by 15% through push notifications, remarketing, and loyalty offers within 1 year.</a:t>
            </a:r>
            <a:endParaRPr lang="en-US" altLang="en-US" sz="2665"/>
          </a:p>
          <a:p>
            <a:endParaRPr lang="en-US" altLang="en-US"/>
          </a:p>
          <a:p>
            <a:r>
              <a:rPr lang="en-US" altLang="en-US" sz="3000" b="1"/>
              <a:t>Optimize Conversion Funnel</a:t>
            </a:r>
            <a:r>
              <a:rPr lang="en-IN" altLang="en-US"/>
              <a:t> : </a:t>
            </a:r>
            <a:r>
              <a:rPr lang="en-US" altLang="en-US" sz="2665"/>
              <a:t>Improve website/app conversion rate by 25% by enhancing </a:t>
            </a:r>
            <a:r>
              <a:rPr lang="en-IN" altLang="en-US" sz="2665"/>
              <a:t>   </a:t>
            </a:r>
            <a:r>
              <a:rPr lang="en-US" altLang="en-US" sz="2665"/>
              <a:t>user experience, reducing cart abandonment, and streamlining</a:t>
            </a:r>
            <a:r>
              <a:rPr lang="en-IN" altLang="en-US" sz="2665"/>
              <a:t> </a:t>
            </a:r>
            <a:r>
              <a:rPr lang="en-US" altLang="en-US" sz="2665"/>
              <a:t>checkout in 6 months.</a:t>
            </a:r>
            <a:endParaRPr lang="en-US" altLang="en-US" sz="266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altLang="en-US" dirty="0">
                <a:latin typeface="Cambria" panose="02040503050406030204" pitchFamily="18" charset="0"/>
                <a:ea typeface="Cambria" panose="02040503050406030204" pitchFamily="18" charset="0"/>
              </a:rPr>
              <a:t>Existing Methods &amp; Drawbacks</a:t>
            </a:r>
            <a:endParaRPr lang="en-IN" alt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04570"/>
            <a:ext cx="10668000" cy="4986655"/>
          </a:xfrm>
          <a:prstGeom prst="rect">
            <a:avLst/>
          </a:prstGeom>
          <a:noFill/>
          <a:ln>
            <a:noFill/>
          </a:ln>
        </p:spPr>
        <p:txBody>
          <a:bodyPr spcFirstLastPara="1" wrap="square" lIns="91425" tIns="45700" rIns="91425" bIns="45700" anchor="t" anchorCtr="0">
            <a:normAutofit fontScale="25000"/>
          </a:bodyPr>
          <a:lstStyle/>
          <a:p>
            <a:pPr marL="342900" lvl="0" indent="-190500" algn="just" rtl="0">
              <a:spcBef>
                <a:spcPts val="0"/>
              </a:spcBef>
              <a:spcAft>
                <a:spcPts val="0"/>
              </a:spcAft>
              <a:buClr>
                <a:schemeClr val="dk1"/>
              </a:buClr>
              <a:buSzPct val="100000"/>
              <a:buNone/>
            </a:pPr>
            <a:r>
              <a:rPr lang="en-IN" altLang="en-US" sz="5600" b="1" dirty="0" smtClean="0">
                <a:latin typeface="Cambria" panose="02040503050406030204" pitchFamily="18" charset="0"/>
                <a:ea typeface="Cambria" panose="02040503050406030204" pitchFamily="18" charset="0"/>
              </a:rPr>
              <a:t>Existing Methods</a:t>
            </a:r>
            <a:r>
              <a:rPr lang="en-US" sz="5600" b="1" dirty="0" smtClean="0">
                <a:latin typeface="Cambria" panose="02040503050406030204" pitchFamily="18" charset="0"/>
                <a:ea typeface="Cambria" panose="02040503050406030204" pitchFamily="18" charset="0"/>
              </a:rPr>
              <a:t>:</a:t>
            </a:r>
            <a:endParaRPr lang="en-US" sz="56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Traditional Print &amp; Offline Sales</a:t>
            </a:r>
            <a:r>
              <a:rPr lang="en-IN" altLang="en-US" sz="4000" b="1" dirty="0" smtClean="0">
                <a:latin typeface="Cambria" panose="02040503050406030204" pitchFamily="18" charset="0"/>
                <a:ea typeface="Cambria" panose="02040503050406030204" pitchFamily="18" charset="0"/>
              </a:rPr>
              <a:t>:</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Distribution through bookstores, newsstands, and government outlets.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Limited subscription-based models.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Basic Websites &amp; Portals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Static websites offering PDF downloads or online subscription forms.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Minimal focus on user experience (slow, outdated designs).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Email &amp; SMS Alerts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One-way communication with subscribers (new issue notifications).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No personalization or automation.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Social Media Announcements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Simple posting of updates on platforms like Facebook/Twitter.</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Low engagement due to lack of targeted campaigns or interactive content.</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dirty="0" smtClean="0">
                <a:latin typeface="Cambria" panose="02040503050406030204" pitchFamily="18" charset="0"/>
                <a:ea typeface="Cambria" panose="02040503050406030204" pitchFamily="18" charset="0"/>
              </a:rPr>
              <a:t>T</a:t>
            </a:r>
            <a:r>
              <a:rPr lang="en-US" altLang="en-US" sz="4000" b="1" dirty="0" smtClean="0">
                <a:latin typeface="Cambria" panose="02040503050406030204" pitchFamily="18" charset="0"/>
                <a:ea typeface="Cambria" panose="02040503050406030204" pitchFamily="18" charset="0"/>
              </a:rPr>
              <a:t>hird-Party Marketplaces (Amazon/Flipkart</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Listings exist but with low visibility due to poor SEO and no paid promotion.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sz="4000" dirty="0" smtClean="0">
                <a:latin typeface="Cambria" panose="02040503050406030204" pitchFamily="18" charset="0"/>
                <a:ea typeface="Cambria" panose="02040503050406030204" pitchFamily="18" charset="0"/>
              </a:rPr>
              <a:t> </a:t>
            </a:r>
            <a:r>
              <a:rPr lang="en-IN" altLang="en-US" sz="4000" dirty="0" smtClean="0">
                <a:latin typeface="Cambria" panose="02040503050406030204" pitchFamily="18" charset="0"/>
                <a:ea typeface="Cambria" panose="02040503050406030204" pitchFamily="18" charset="0"/>
              </a:rPr>
              <a:t>       </a:t>
            </a:r>
            <a:endParaRPr lang="en-IN"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Limited digital subscription integration.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IN" altLang="en-US" sz="31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3200"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Existing Methods &amp; Drawbacks</a:t>
            </a:r>
            <a:endParaRPr lang="en-IN" altLang="en-US"/>
          </a:p>
        </p:txBody>
      </p:sp>
      <p:sp>
        <p:nvSpPr>
          <p:cNvPr id="3" name="Text Placeholder 2"/>
          <p:cNvSpPr>
            <a:spLocks noGrp="1"/>
          </p:cNvSpPr>
          <p:nvPr>
            <p:ph type="body" idx="1"/>
          </p:nvPr>
        </p:nvSpPr>
        <p:spPr>
          <a:xfrm>
            <a:off x="812800" y="1016000"/>
            <a:ext cx="10668000" cy="5207000"/>
          </a:xfrm>
        </p:spPr>
        <p:txBody>
          <a:bodyPr/>
          <a:p>
            <a:pPr marL="76200" indent="0">
              <a:buNone/>
            </a:pPr>
            <a:r>
              <a:rPr lang="en-IN" altLang="en-US" sz="1800" b="1">
                <a:latin typeface="Cambria" panose="02040503050406030204" pitchFamily="18" charset="0"/>
                <a:cs typeface="Cambria" panose="02040503050406030204" pitchFamily="18" charset="0"/>
              </a:rPr>
              <a:t>Drawbacks and Limitations:</a:t>
            </a:r>
            <a:endParaRPr lang="en-IN" altLang="en-US" sz="1800" b="1">
              <a:latin typeface="Cambria" panose="02040503050406030204" pitchFamily="18" charset="0"/>
              <a:cs typeface="Cambria" panose="02040503050406030204" pitchFamily="18" charset="0"/>
            </a:endParaRPr>
          </a:p>
          <a:p>
            <a:pPr marL="76200" indent="0">
              <a:buNone/>
            </a:pPr>
            <a:endParaRPr lang="en-IN" altLang="en-US" sz="14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Limited Reach</a:t>
            </a:r>
            <a:r>
              <a:rPr lang="en-US" altLang="en-US" sz="1600">
                <a:latin typeface="Cambria" panose="02040503050406030204" pitchFamily="18" charset="0"/>
                <a:cs typeface="Cambria" panose="02040503050406030204" pitchFamily="18" charset="0"/>
              </a:rPr>
              <a:t> – Reliance on offline sales and basic online presence restricts visibility among digital-first audiences.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Poor User Experience </a:t>
            </a:r>
            <a:r>
              <a:rPr lang="en-US" altLang="en-US" sz="1600">
                <a:latin typeface="Cambria" panose="02040503050406030204" pitchFamily="18" charset="0"/>
                <a:cs typeface="Cambria" panose="02040503050406030204" pitchFamily="18" charset="0"/>
              </a:rPr>
              <a:t>– Outdated websites/apps with complex navigation discourage younger users.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Low Engagement </a:t>
            </a:r>
            <a:r>
              <a:rPr lang="en-US" altLang="en-US" sz="1600">
                <a:latin typeface="Cambria" panose="02040503050406030204" pitchFamily="18" charset="0"/>
                <a:cs typeface="Cambria" panose="02040503050406030204" pitchFamily="18" charset="0"/>
              </a:rPr>
              <a:t>– One-way email/SMS and generic social media posts fail to retain or excite subscribers.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Lack of Targeted Marketing</a:t>
            </a:r>
            <a:r>
              <a:rPr lang="en-US" altLang="en-US" sz="1600">
                <a:latin typeface="Cambria" panose="02040503050406030204" pitchFamily="18" charset="0"/>
                <a:cs typeface="Cambria" panose="02040503050406030204" pitchFamily="18" charset="0"/>
              </a:rPr>
              <a:t> – No proper use of SEO, paid ads, or segmentation to reach competitive exam aspirants/job seekers effectively.</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Weak Analytics &amp; Tracking</a:t>
            </a:r>
            <a:r>
              <a:rPr lang="en-US" altLang="en-US" sz="1600">
                <a:latin typeface="Cambria" panose="02040503050406030204" pitchFamily="18" charset="0"/>
                <a:cs typeface="Cambria" panose="02040503050406030204" pitchFamily="18" charset="0"/>
              </a:rPr>
              <a:t> – Minimal use of tools to measure campaign success, customer behavior, or subscription funnel drop-offs.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Subscription Retention Issues</a:t>
            </a:r>
            <a:r>
              <a:rPr lang="en-US" altLang="en-US" sz="1600">
                <a:latin typeface="Cambria" panose="02040503050406030204" pitchFamily="18" charset="0"/>
                <a:cs typeface="Cambria" panose="02040503050406030204" pitchFamily="18" charset="0"/>
              </a:rPr>
              <a:t> – Existing methods focus on acquisition, not renewals or long-term engagement.</a:t>
            </a:r>
            <a:endParaRPr lang="en-US" altLang="en-US" sz="1600">
              <a:latin typeface="Cambria" panose="02040503050406030204" pitchFamily="18" charset="0"/>
              <a:cs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Proposed Method &amp; Feasibility Study</a:t>
            </a:r>
            <a:endParaRPr lang="en-IN" altLang="en-US"/>
          </a:p>
        </p:txBody>
      </p:sp>
      <p:sp>
        <p:nvSpPr>
          <p:cNvPr id="3" name="Text Placeholder 2"/>
          <p:cNvSpPr>
            <a:spLocks noGrp="1"/>
          </p:cNvSpPr>
          <p:nvPr>
            <p:ph type="body" idx="1"/>
          </p:nvPr>
        </p:nvSpPr>
        <p:spPr/>
        <p:txBody>
          <a:bodyPr>
            <a:normAutofit/>
          </a:bodyPr>
          <a:p>
            <a:pPr marL="76200" indent="0">
              <a:buNone/>
            </a:pPr>
            <a:r>
              <a:rPr lang="en-IN" altLang="en-US" b="1"/>
              <a:t>Proposed Method:</a:t>
            </a:r>
            <a:endParaRPr lang="en-IN" altLang="en-US" b="1"/>
          </a:p>
          <a:p>
            <a:pPr marL="76200" indent="0">
              <a:buNone/>
            </a:pPr>
            <a:r>
              <a:rPr lang="en-US" altLang="en-US"/>
              <a:t>A digital marketing framework to boost online sales of DPD journals and Employment News through website/app optimization, SEO, email automation, social media, influencer tie-ups, and marketplace integration.</a:t>
            </a:r>
            <a:endParaRPr lang="en-US" altLang="en-US"/>
          </a:p>
          <a:p>
            <a:pPr marL="76200" indent="0">
              <a:buNone/>
            </a:pPr>
            <a:endParaRPr lang="en-US" altLang="en-US"/>
          </a:p>
          <a:p>
            <a:pPr marL="76200" indent="0">
              <a:buNone/>
            </a:pPr>
            <a:r>
              <a:rPr lang="en-IN" altLang="en-US" b="1"/>
              <a:t>Feasibility Solution:</a:t>
            </a:r>
            <a:endParaRPr lang="en-IN" altLang="en-US" b="1"/>
          </a:p>
          <a:p>
            <a:pPr marL="76200" indent="0">
              <a:buNone/>
            </a:pPr>
            <a:r>
              <a:rPr lang="en-US" altLang="en-US"/>
              <a:t>Technical: Easily implementable with existing tools and platforms.</a:t>
            </a:r>
            <a:endParaRPr lang="en-US" altLang="en-US"/>
          </a:p>
          <a:p>
            <a:pPr marL="76200" indent="0">
              <a:buNone/>
            </a:pPr>
            <a:r>
              <a:rPr lang="en-US" altLang="en-US"/>
              <a:t>Financial: Moderate investment, high ROI via subscriptions.</a:t>
            </a:r>
            <a:endParaRPr lang="en-US" altLang="en-US"/>
          </a:p>
          <a:p>
            <a:pPr marL="76200" indent="0">
              <a:buNone/>
            </a:pPr>
            <a:r>
              <a:rPr lang="en-US" altLang="en-US"/>
              <a:t>Operational: Can be managed by a small team with automation.</a:t>
            </a:r>
            <a:endParaRPr lang="en-US" altLang="en-US"/>
          </a:p>
          <a:p>
            <a:pPr marL="76200" indent="0">
              <a:buNone/>
            </a:pPr>
            <a:r>
              <a:rPr lang="en-US" altLang="en-US"/>
              <a:t>Market: Strong demand among students/job seekers ensures success.</a:t>
            </a:r>
            <a:endParaRPr lang="en-US" altLang="en-US"/>
          </a:p>
          <a:p>
            <a:pPr marL="76200" indent="0">
              <a:buNone/>
            </a:pP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Architectural Diagram</a:t>
            </a:r>
            <a:endParaRPr lang="en-IN" altLang="en-US"/>
          </a:p>
        </p:txBody>
      </p:sp>
      <p:sp>
        <p:nvSpPr>
          <p:cNvPr id="3" name="Text Placeholder 2"/>
          <p:cNvSpPr>
            <a:spLocks noGrp="1"/>
          </p:cNvSpPr>
          <p:nvPr>
            <p:ph type="body" idx="1"/>
          </p:nvPr>
        </p:nvSpPr>
        <p:spPr/>
        <p:txBody>
          <a:bodyPr/>
          <a:p>
            <a:pPr marL="76200" indent="0">
              <a:buNone/>
            </a:pPr>
            <a:endParaRPr lang="en-IN" altLang="en-US"/>
          </a:p>
        </p:txBody>
      </p:sp>
      <p:pic>
        <p:nvPicPr>
          <p:cNvPr id="4" name="Picture 3"/>
          <p:cNvPicPr>
            <a:picLocks noChangeAspect="1"/>
          </p:cNvPicPr>
          <p:nvPr/>
        </p:nvPicPr>
        <p:blipFill>
          <a:blip r:embed="rId1"/>
          <a:stretch>
            <a:fillRect/>
          </a:stretch>
        </p:blipFill>
        <p:spPr>
          <a:xfrm>
            <a:off x="812800" y="1143000"/>
            <a:ext cx="10743565" cy="43141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Modules</a:t>
            </a:r>
            <a:endParaRPr lang="en-IN" altLang="en-US"/>
          </a:p>
        </p:txBody>
      </p:sp>
      <p:sp>
        <p:nvSpPr>
          <p:cNvPr id="3" name="Text Placeholder 2"/>
          <p:cNvSpPr>
            <a:spLocks noGrp="1"/>
          </p:cNvSpPr>
          <p:nvPr>
            <p:ph type="body" idx="1"/>
          </p:nvPr>
        </p:nvSpPr>
        <p:spPr/>
        <p:txBody>
          <a:bodyPr/>
          <a:p>
            <a:r>
              <a:rPr lang="en-IN" altLang="en-US"/>
              <a:t>Website &amp; App Module</a:t>
            </a:r>
            <a:endParaRPr lang="en-IN" altLang="en-US"/>
          </a:p>
          <a:p>
            <a:r>
              <a:rPr lang="en-IN" altLang="en-US"/>
              <a:t>SEO &amp; Content Module</a:t>
            </a:r>
            <a:endParaRPr lang="en-IN" altLang="en-US"/>
          </a:p>
          <a:p>
            <a:r>
              <a:rPr lang="en-IN" altLang="en-US"/>
              <a:t>Email &amp; Notification Module</a:t>
            </a:r>
            <a:endParaRPr lang="en-IN" altLang="en-US"/>
          </a:p>
          <a:p>
            <a:r>
              <a:rPr lang="en-IN" altLang="en-US"/>
              <a:t>Social Media &amp; Engagement Module</a:t>
            </a:r>
            <a:endParaRPr lang="en-IN" altLang="en-US"/>
          </a:p>
          <a:p>
            <a:r>
              <a:rPr lang="en-IN" altLang="en-US"/>
              <a:t>Marketplace Integraton Module</a:t>
            </a:r>
            <a:endParaRPr lang="en-IN" altLang="en-US"/>
          </a:p>
          <a:p>
            <a:r>
              <a:rPr lang="en-IN" altLang="en-US"/>
              <a:t>Analytics &amp; Tracking Module</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Hardware &amp; Software Details</a:t>
            </a:r>
            <a:endParaRPr lang="en-IN" altLang="en-US"/>
          </a:p>
        </p:txBody>
      </p:sp>
      <p:sp>
        <p:nvSpPr>
          <p:cNvPr id="3" name="Text Placeholder 2"/>
          <p:cNvSpPr>
            <a:spLocks noGrp="1"/>
          </p:cNvSpPr>
          <p:nvPr>
            <p:ph type="body" idx="1"/>
          </p:nvPr>
        </p:nvSpPr>
        <p:spPr/>
        <p:txBody>
          <a:bodyPr>
            <a:normAutofit fontScale="90000" lnSpcReduction="20000"/>
          </a:bodyPr>
          <a:p>
            <a:pPr marL="76200" indent="0">
              <a:buNone/>
            </a:pPr>
            <a:r>
              <a:rPr lang="en-IN" altLang="en-US" b="1" u="sng"/>
              <a:t>Hardware</a:t>
            </a:r>
            <a:r>
              <a:rPr lang="en-IN" altLang="en-US" b="1"/>
              <a:t>:</a:t>
            </a:r>
            <a:endParaRPr lang="en-IN" altLang="en-US" b="1"/>
          </a:p>
          <a:p>
            <a:pPr marL="76200" indent="0">
              <a:buNone/>
            </a:pPr>
            <a:r>
              <a:rPr lang="en-IN" altLang="en-US"/>
              <a:t>Servers/Laptop</a:t>
            </a:r>
            <a:endParaRPr lang="en-IN" altLang="en-US"/>
          </a:p>
          <a:p>
            <a:pPr marL="76200" indent="0">
              <a:buNone/>
            </a:pPr>
            <a:r>
              <a:rPr lang="en-IN" altLang="en-US"/>
              <a:t>Mobiles</a:t>
            </a:r>
            <a:endParaRPr lang="en-IN" altLang="en-US"/>
          </a:p>
          <a:p>
            <a:pPr marL="76200" indent="0">
              <a:buNone/>
            </a:pPr>
            <a:endParaRPr lang="en-IN" altLang="en-US"/>
          </a:p>
          <a:p>
            <a:pPr marL="76200" indent="0">
              <a:buNone/>
            </a:pPr>
            <a:r>
              <a:rPr lang="en-IN" altLang="en-US" b="1" u="sng"/>
              <a:t>Software</a:t>
            </a:r>
            <a:r>
              <a:rPr lang="en-IN" altLang="en-US" b="1"/>
              <a:t>:</a:t>
            </a:r>
            <a:endParaRPr lang="en-IN" altLang="en-US" b="1"/>
          </a:p>
          <a:p>
            <a:pPr marL="76200" indent="0">
              <a:buNone/>
            </a:pPr>
            <a:r>
              <a:rPr lang="en-IN" altLang="en-US"/>
              <a:t>Web : </a:t>
            </a:r>
            <a:r>
              <a:rPr lang="en-US" altLang="en-US"/>
              <a:t>HTML5, CSS3, JavaScript, React/Angular</a:t>
            </a:r>
            <a:endParaRPr lang="en-US" altLang="en-US"/>
          </a:p>
          <a:p>
            <a:pPr marL="76200" indent="0">
              <a:buNone/>
            </a:pPr>
            <a:r>
              <a:rPr lang="en-IN" altLang="en-US"/>
              <a:t>Backend : </a:t>
            </a:r>
            <a:r>
              <a:rPr lang="en-US" altLang="en-US"/>
              <a:t>Node.js</a:t>
            </a:r>
            <a:r>
              <a:rPr lang="en-IN" altLang="en-US"/>
              <a:t> </a:t>
            </a:r>
            <a:r>
              <a:rPr lang="en-US" altLang="en-US"/>
              <a:t>/</a:t>
            </a:r>
            <a:r>
              <a:rPr lang="en-IN" altLang="en-US"/>
              <a:t> </a:t>
            </a:r>
            <a:r>
              <a:rPr lang="en-US" altLang="en-US"/>
              <a:t>PHP / Python Django</a:t>
            </a:r>
            <a:endParaRPr lang="en-US" altLang="en-US"/>
          </a:p>
          <a:p>
            <a:pPr marL="76200" indent="0">
              <a:buNone/>
            </a:pPr>
            <a:r>
              <a:rPr lang="en-IN" altLang="en-US"/>
              <a:t>Database :</a:t>
            </a:r>
            <a:r>
              <a:rPr lang="en-US" altLang="en-US"/>
              <a:t>MySQL</a:t>
            </a:r>
            <a:r>
              <a:rPr lang="en-IN" altLang="en-US"/>
              <a:t> </a:t>
            </a:r>
            <a:r>
              <a:rPr lang="en-US" altLang="en-US"/>
              <a:t>/</a:t>
            </a:r>
            <a:r>
              <a:rPr lang="en-IN" altLang="en-US"/>
              <a:t> </a:t>
            </a:r>
            <a:r>
              <a:rPr lang="en-US" altLang="en-US"/>
              <a:t>MongoDB</a:t>
            </a:r>
            <a:endParaRPr lang="en-US" altLang="en-US"/>
          </a:p>
          <a:p>
            <a:pPr marL="76200" indent="0">
              <a:buNone/>
            </a:pPr>
            <a:r>
              <a:rPr lang="en-IN" altLang="en-US"/>
              <a:t>SEO : Google Search Console</a:t>
            </a:r>
            <a:endParaRPr lang="en-IN" altLang="en-US"/>
          </a:p>
          <a:p>
            <a:pPr marL="76200" indent="0">
              <a:buNone/>
            </a:pPr>
            <a:r>
              <a:rPr lang="en-IN" altLang="en-US"/>
              <a:t>Email Marketing : Mailchimp</a:t>
            </a:r>
            <a:endParaRPr lang="en-IN" altLang="en-US"/>
          </a:p>
          <a:p>
            <a:pPr marL="76200" indent="0">
              <a:buNone/>
            </a:pPr>
            <a:r>
              <a:rPr lang="en-IN" altLang="en-US"/>
              <a:t>Social Media : Meta Ads Manager</a:t>
            </a:r>
            <a:endParaRPr lang="en-IN" altLang="en-US"/>
          </a:p>
          <a:p>
            <a:pPr marL="76200" indent="0">
              <a:buNone/>
            </a:pPr>
            <a:r>
              <a:rPr lang="en-IN" altLang="en-US"/>
              <a:t>Designing : Canva / CapCut</a:t>
            </a:r>
            <a:endParaRPr lang="en-IN" altLang="en-US"/>
          </a:p>
          <a:p>
            <a:pPr marL="76200" indent="0">
              <a:buNone/>
            </a:pPr>
            <a:r>
              <a:rPr lang="en-IN" altLang="en-US"/>
              <a:t>Hosting : </a:t>
            </a:r>
            <a:r>
              <a:rPr lang="en-US" altLang="en-US"/>
              <a:t>AWS EC2</a:t>
            </a:r>
            <a:endParaRPr lang="en-US" altLang="en-US"/>
          </a:p>
          <a:p>
            <a:pPr marL="76200" indent="0">
              <a:buNone/>
            </a:pPr>
            <a:r>
              <a:rPr lang="en-IN" altLang="en-US"/>
              <a:t>Payment : Razorpay</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smtClean="0">
                <a:latin typeface="Cambria" panose="02040503050406030204" pitchFamily="18" charset="0"/>
                <a:ea typeface="Cambria" panose="02040503050406030204" pitchFamily="18" charset="0"/>
              </a:rPr>
              <a:t>The Github link provided should have public access permission.</a:t>
            </a: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smtClean="0">
                <a:solidFill>
                  <a:schemeClr val="accent2">
                    <a:lumMod val="75000"/>
                  </a:schemeClr>
                </a:solidFill>
                <a:latin typeface="Cambria" panose="02040503050406030204" pitchFamily="18" charset="0"/>
                <a:ea typeface="Cambria" panose="02040503050406030204" pitchFamily="18" charset="0"/>
              </a:rPr>
              <a:t>Github Link</a:t>
            </a:r>
            <a:r>
              <a:rPr lang="en-IN" altLang="en-US" b="1" dirty="0" smtClean="0">
                <a:solidFill>
                  <a:schemeClr val="accent2">
                    <a:lumMod val="75000"/>
                  </a:schemeClr>
                </a:solidFill>
                <a:latin typeface="Cambria" panose="02040503050406030204" pitchFamily="18" charset="0"/>
                <a:ea typeface="Cambria" panose="02040503050406030204" pitchFamily="18" charset="0"/>
              </a:rPr>
              <a:t> :</a:t>
            </a: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altLang="en-US" b="1" dirty="0" smtClean="0">
                <a:solidFill>
                  <a:schemeClr val="accent2">
                    <a:lumMod val="75000"/>
                  </a:schemeClr>
                </a:solidFill>
                <a:latin typeface="Cambria" panose="02040503050406030204" pitchFamily="18" charset="0"/>
                <a:ea typeface="Cambria" panose="02040503050406030204" pitchFamily="18" charset="0"/>
                <a:hlinkClick r:id="rId1" action="ppaction://hlinkfile"/>
              </a:rPr>
              <a:t>https://github.com/revadithya/dpdjourns.git</a:t>
            </a:r>
            <a:endParaRPr lang="en-US" alt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p:pic>
        <p:nvPicPr>
          <p:cNvPr id="4" name="Picture 3" descr="gantt"/>
          <p:cNvPicPr>
            <a:picLocks noChangeAspect="1"/>
          </p:cNvPicPr>
          <p:nvPr/>
        </p:nvPicPr>
        <p:blipFill>
          <a:blip r:embed="rId1"/>
          <a:stretch>
            <a:fillRect/>
          </a:stretch>
        </p:blipFill>
        <p:spPr>
          <a:xfrm>
            <a:off x="1362710" y="1143000"/>
            <a:ext cx="10118090" cy="495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009650"/>
            <a:ext cx="10668000" cy="5086350"/>
          </a:xfrm>
          <a:prstGeom prst="rect">
            <a:avLst/>
          </a:prstGeom>
          <a:noFill/>
          <a:ln>
            <a:noFill/>
          </a:ln>
        </p:spPr>
        <p:txBody>
          <a:bodyPr spcFirstLastPara="1" wrap="square" lIns="91425" tIns="45700" rIns="91425" bIns="45700" anchor="t" anchorCtr="0">
            <a:normAutofit fontScale="40000"/>
          </a:bodyPr>
          <a:lstStyle/>
          <a:p>
            <a:pPr marL="152400" indent="0">
              <a:spcBef>
                <a:spcPts val="0"/>
              </a:spcBef>
              <a:buNone/>
            </a:pPr>
            <a:endParaRPr lang="en-US" dirty="0" smtClean="0">
              <a:latin typeface="Cambria" panose="02040503050406030204" pitchFamily="18" charset="0"/>
              <a:ea typeface="Cambria" panose="02040503050406030204" pitchFamily="18" charset="0"/>
            </a:endParaRPr>
          </a:p>
          <a:p>
            <a:pPr marL="609600" lvl="1" indent="0">
              <a:spcBef>
                <a:spcPts val="0"/>
              </a:spcBef>
              <a:buNone/>
            </a:pPr>
            <a:r>
              <a:rPr lang="en-US" altLang="en-US" sz="3430" dirty="0" smtClean="0"/>
              <a:t>[1] </a:t>
            </a:r>
            <a:r>
              <a:rPr lang="en-US" altLang="en-US" sz="3430" b="1" dirty="0" smtClean="0"/>
              <a:t>D. Petrov</a:t>
            </a:r>
            <a:r>
              <a:rPr lang="en-IN" altLang="en-US" sz="3430" b="1" dirty="0" smtClean="0"/>
              <a:t>[SEO]</a:t>
            </a:r>
            <a:r>
              <a:rPr lang="en-US" altLang="en-US" sz="3430" dirty="0" smtClean="0"/>
              <a:t>, “Evolving SEO for 2025: What needs to change,” Search Engine Land, Jan. 17, 2025. </a:t>
            </a:r>
            <a:r>
              <a:rPr lang="en-US" altLang="en-US" sz="3430" dirty="0" smtClean="0">
                <a:hlinkClick r:id="rId1" action="ppaction://hlinkfile"/>
              </a:rPr>
              <a:t>https://searchengineland.com/evolving-seo-for-2025-what-needs-to-change-450911</a:t>
            </a:r>
            <a:endParaRPr lang="en-US" altLang="en-US" sz="3430" dirty="0" smtClean="0"/>
          </a:p>
          <a:p>
            <a:pPr marL="609600" lvl="1" indent="0">
              <a:spcBef>
                <a:spcPts val="0"/>
              </a:spcBef>
              <a:buNone/>
            </a:pPr>
            <a:endParaRPr lang="en-US" altLang="en-US" sz="3430" dirty="0" smtClean="0"/>
          </a:p>
          <a:p>
            <a:pPr marL="609600" lvl="1" indent="0">
              <a:spcBef>
                <a:spcPts val="0"/>
              </a:spcBef>
              <a:buNone/>
            </a:pPr>
            <a:r>
              <a:rPr lang="en-US" sz="3430" dirty="0" smtClean="0"/>
              <a:t>[2].</a:t>
            </a:r>
            <a:r>
              <a:rPr lang="en-IN" altLang="en-US" sz="3430" dirty="0" smtClean="0"/>
              <a:t> </a:t>
            </a:r>
            <a:r>
              <a:rPr lang="en-US" altLang="en-US" sz="3430" b="1" dirty="0">
                <a:latin typeface="Verdana" panose="020B0604030504040204" charset="0"/>
                <a:ea typeface="Cambria" panose="02040503050406030204" pitchFamily="18" charset="0"/>
                <a:cs typeface="Verdana" panose="020B0604030504040204" charset="0"/>
              </a:rPr>
              <a:t>Semrush</a:t>
            </a:r>
            <a:r>
              <a:rPr lang="en-US" altLang="en-US" sz="3430" dirty="0">
                <a:latin typeface="Verdana" panose="020B0604030504040204" charset="0"/>
                <a:ea typeface="Cambria" panose="02040503050406030204" pitchFamily="18" charset="0"/>
                <a:cs typeface="Verdana" panose="020B0604030504040204" charset="0"/>
              </a:rPr>
              <a:t>, “Data-Driven Marketing Tools to Grow Your Business,” 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2" action="ppaction://hlinkfile"/>
              </a:rPr>
              <a:t>https://www.semrush.com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Cambria" panose="02040503050406030204" pitchFamily="18" charset="0"/>
              <a:ea typeface="Cambria" panose="02040503050406030204" pitchFamily="18"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[3]. </a:t>
            </a:r>
            <a:r>
              <a:rPr lang="en-US" altLang="en-US" sz="3430" b="1" dirty="0">
                <a:latin typeface="Verdana" panose="020B0604030504040204" charset="0"/>
                <a:ea typeface="Cambria" panose="02040503050406030204" pitchFamily="18" charset="0"/>
                <a:cs typeface="Verdana" panose="020B0604030504040204" charset="0"/>
              </a:rPr>
              <a:t>TechTarget</a:t>
            </a:r>
            <a:r>
              <a:rPr lang="en-US" altLang="en-US" sz="3430" dirty="0">
                <a:latin typeface="Verdana" panose="020B0604030504040204" charset="0"/>
                <a:ea typeface="Cambria" panose="02040503050406030204" pitchFamily="18" charset="0"/>
                <a:cs typeface="Verdana" panose="020B0604030504040204" charset="0"/>
              </a:rPr>
              <a:t>, “Google Analytics,” SearchBusinessAnalytics</a:t>
            </a:r>
            <a:r>
              <a:rPr lang="en-IN" altLang="en-US" sz="3430" dirty="0">
                <a:latin typeface="Verdana" panose="020B0604030504040204" charset="0"/>
                <a:ea typeface="Cambria" panose="02040503050406030204" pitchFamily="18" charset="0"/>
                <a:cs typeface="Verdana" panose="020B0604030504040204" charset="0"/>
              </a:rPr>
              <a:t>.</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3" action="ppaction://hlinkfile"/>
              </a:rPr>
              <a:t>https://www.techtarget.com/searchbusinessanalytics/definition/Google-Analytics</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[4]. </a:t>
            </a:r>
            <a:r>
              <a:rPr lang="en-US" altLang="en-US" sz="3430" b="1" dirty="0">
                <a:latin typeface="Verdana" panose="020B0604030504040204" charset="0"/>
                <a:ea typeface="Cambria" panose="02040503050406030204" pitchFamily="18" charset="0"/>
                <a:cs typeface="Verdana" panose="020B0604030504040204" charset="0"/>
              </a:rPr>
              <a:t>Mailchimp</a:t>
            </a:r>
            <a:r>
              <a:rPr lang="en-US" altLang="en-US" sz="3430" dirty="0">
                <a:latin typeface="Verdana" panose="020B0604030504040204" charset="0"/>
                <a:ea typeface="Cambria" panose="02040503050406030204" pitchFamily="18" charset="0"/>
                <a:cs typeface="Verdana" panose="020B0604030504040204" charset="0"/>
              </a:rPr>
              <a:t>, “Marketing, Automation &amp; Email Platform,” 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4" action="ppaction://hlinkfile"/>
              </a:rPr>
              <a:t>https://mailchimp.com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[5]. </a:t>
            </a:r>
            <a:r>
              <a:rPr lang="en-IN" altLang="en-US" sz="3430" b="1" dirty="0">
                <a:latin typeface="Verdana" panose="020B0604030504040204" charset="0"/>
                <a:ea typeface="Cambria" panose="02040503050406030204" pitchFamily="18" charset="0"/>
                <a:cs typeface="Verdana" panose="020B0604030504040204" charset="0"/>
              </a:rPr>
              <a:t>ChatGPT</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[6]. </a:t>
            </a:r>
            <a:r>
              <a:rPr lang="en-IN" altLang="en-US" sz="3430" b="1" dirty="0">
                <a:latin typeface="Verdana" panose="020B0604030504040204" charset="0"/>
                <a:ea typeface="Cambria" panose="02040503050406030204" pitchFamily="18" charset="0"/>
                <a:cs typeface="Verdana" panose="020B0604030504040204" charset="0"/>
              </a:rPr>
              <a:t>Canva</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[7]. </a:t>
            </a:r>
            <a:r>
              <a:rPr lang="en-US" altLang="en-US" sz="3430" b="1" dirty="0">
                <a:latin typeface="Verdana" panose="020B0604030504040204" charset="0"/>
                <a:ea typeface="Cambria" panose="02040503050406030204" pitchFamily="18" charset="0"/>
                <a:cs typeface="Verdana" panose="020B0604030504040204" charset="0"/>
              </a:rPr>
              <a:t>Ministry of Information and Broadcasting</a:t>
            </a:r>
            <a:r>
              <a:rPr lang="en-US" altLang="en-US" sz="3430" dirty="0">
                <a:latin typeface="Verdana" panose="020B0604030504040204" charset="0"/>
                <a:ea typeface="Cambria" panose="02040503050406030204" pitchFamily="18" charset="0"/>
                <a:cs typeface="Verdana" panose="020B0604030504040204" charset="0"/>
              </a:rPr>
              <a:t>, “Directorate of Publication Division (DPD),” mib.gov.in. </a:t>
            </a:r>
            <a:r>
              <a:rPr lang="en-US" altLang="en-US" sz="3430" dirty="0">
                <a:latin typeface="Verdana" panose="020B0604030504040204" charset="0"/>
                <a:ea typeface="Cambria" panose="02040503050406030204" pitchFamily="18" charset="0"/>
                <a:cs typeface="Verdana" panose="020B0604030504040204" charset="0"/>
                <a:hlinkClick r:id="rId5" action="ppaction://hlinkfile"/>
              </a:rPr>
              <a:t>https://mib.gov.in/ministry/organizations/publication-division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[8]. </a:t>
            </a:r>
            <a:r>
              <a:rPr lang="en-US" altLang="en-US" sz="3430" b="1" dirty="0">
                <a:latin typeface="Verdana" panose="020B0604030504040204" charset="0"/>
                <a:ea typeface="Cambria" panose="02040503050406030204" pitchFamily="18" charset="0"/>
                <a:cs typeface="Verdana" panose="020B0604030504040204" charset="0"/>
              </a:rPr>
              <a:t>National Payments Corporation of India</a:t>
            </a:r>
            <a:r>
              <a:rPr lang="en-US" altLang="en-US" sz="3430" dirty="0">
                <a:latin typeface="Verdana" panose="020B0604030504040204" charset="0"/>
                <a:ea typeface="Cambria" panose="02040503050406030204" pitchFamily="18" charset="0"/>
                <a:cs typeface="Verdana" panose="020B0604030504040204" charset="0"/>
              </a:rPr>
              <a:t>, “Enabling Digital Payments in India,” npci.org.in.  </a:t>
            </a:r>
            <a:r>
              <a:rPr lang="en-US" altLang="en-US" sz="3430" dirty="0">
                <a:latin typeface="Verdana" panose="020B0604030504040204" charset="0"/>
                <a:ea typeface="Cambria" panose="02040503050406030204" pitchFamily="18" charset="0"/>
                <a:cs typeface="Verdana" panose="020B0604030504040204" charset="0"/>
                <a:hlinkClick r:id="rId6" action="ppaction://hlinkfile"/>
              </a:rPr>
              <a:t>https://www.npci.org.in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dirty="0">
              <a:latin typeface="Verdana" panose="020B0604030504040204" charset="0"/>
              <a:ea typeface="Cambria" panose="02040503050406030204" pitchFamily="18" charset="0"/>
              <a:cs typeface="Verdana" panose="020B0604030504040204" charset="0"/>
            </a:endParaRPr>
          </a:p>
          <a:p>
            <a:pPr marL="152400" indent="0">
              <a:spcBef>
                <a:spcPts val="0"/>
              </a:spcBef>
              <a:buNone/>
            </a:pPr>
            <a:endParaRPr lang="en-US" dirty="0" smtClean="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426*142"/>
  <p:tag name="TABLE_ENDDRAG_RECT" val="53*238*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9181</Words>
  <Application>WPS Presentation</Application>
  <PresentationFormat>Widescreen</PresentationFormat>
  <Paragraphs>244</Paragraphs>
  <Slides>18</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Arial</vt:lpstr>
      <vt:lpstr>Verdana</vt:lpstr>
      <vt:lpstr>Bookman Old Style</vt:lpstr>
      <vt:lpstr>Cambria</vt:lpstr>
      <vt:lpstr>Verdana</vt:lpstr>
      <vt:lpstr>Microsoft YaHei</vt:lpstr>
      <vt:lpstr>Arial Unicode MS</vt:lpstr>
      <vt:lpstr>Bioinformatics</vt:lpstr>
      <vt:lpstr>A complete digital marketing solution for a visible increase in online sale of DPD journals and Employment News issues through various available/new online sale channels (like website, apps , amazon, social media) by optimising various available or new digital marketing tools like email marketing, SEO.</vt:lpstr>
      <vt:lpstr>Problem Statement Number </vt:lpstr>
      <vt:lpstr>Content </vt:lpstr>
      <vt:lpstr>Problem Statement</vt:lpstr>
      <vt:lpstr>PowerPoint 演示文稿</vt:lpstr>
      <vt:lpstr>PowerPoint 演示文稿</vt:lpstr>
      <vt:lpstr>PowerPoint 演示文稿</vt:lpstr>
      <vt:lpstr>Objectives</vt:lpstr>
      <vt:lpstr>Analysis of Problem Statement</vt:lpstr>
      <vt:lpstr>PowerPoint 演示文稿</vt:lpstr>
      <vt:lpstr>PowerPoint 演示文稿</vt:lpstr>
      <vt:lpstr>PowerPoint 演示文稿</vt:lpstr>
      <vt:lpstr>PowerPoint 演示文稿</vt:lpstr>
      <vt:lpstr>PowerPoint 演示文稿</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Vanka Revanth Adithya</cp:lastModifiedBy>
  <cp:revision>49</cp:revision>
  <dcterms:created xsi:type="dcterms:W3CDTF">2025-08-09T12:05:00Z</dcterms:created>
  <dcterms:modified xsi:type="dcterms:W3CDTF">2025-09-09T20:16:10Z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0218BA7B9498400A88E1EB9A5F1C423F_12</vt:lpwstr>
  </property>
  <property fmtid="{D5CDD505-2E9C-101B-9397-08002B2CF9AE}" pid="3" name="KSOProductBuildVer">
    <vt:lpwstr>1033-12.2.0.21931</vt:lpwstr>
  </property>
</Properties>
</file>